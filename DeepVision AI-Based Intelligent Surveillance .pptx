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82" r:id="rId1"/>
  </p:sldMasterIdLst>
  <p:notesMasterIdLst>
    <p:notesMasterId r:id="rId20"/>
  </p:notesMasterIdLst>
  <p:sldIdLst>
    <p:sldId id="256" r:id="rId2"/>
    <p:sldId id="276" r:id="rId3"/>
    <p:sldId id="277" r:id="rId4"/>
    <p:sldId id="278" r:id="rId5"/>
    <p:sldId id="286" r:id="rId6"/>
    <p:sldId id="292" r:id="rId7"/>
    <p:sldId id="279" r:id="rId8"/>
    <p:sldId id="280" r:id="rId9"/>
    <p:sldId id="281" r:id="rId10"/>
    <p:sldId id="282" r:id="rId11"/>
    <p:sldId id="296" r:id="rId12"/>
    <p:sldId id="284" r:id="rId13"/>
    <p:sldId id="290" r:id="rId14"/>
    <p:sldId id="291" r:id="rId15"/>
    <p:sldId id="293" r:id="rId16"/>
    <p:sldId id="294" r:id="rId17"/>
    <p:sldId id="295" r:id="rId18"/>
    <p:sldId id="28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988838-B7E7-FA72-4E28-3A76713348C0}" name="vaishnavi naik" initials="vn" userId="49dd7b260ca5673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7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353" autoAdjust="0"/>
  </p:normalViewPr>
  <p:slideViewPr>
    <p:cSldViewPr snapToGrid="0">
      <p:cViewPr>
        <p:scale>
          <a:sx n="66" d="100"/>
          <a:sy n="66" d="100"/>
        </p:scale>
        <p:origin x="-466"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786BF3-CDCC-9540-AA40-0D7D559FC062}"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A25D06-CCE3-D84A-9965-B5368ADFC6F2}" type="slidenum">
              <a:rPr lang="en-US" smtClean="0"/>
              <a:t>‹#›</a:t>
            </a:fld>
            <a:endParaRPr lang="en-US"/>
          </a:p>
        </p:txBody>
      </p:sp>
    </p:spTree>
    <p:extLst>
      <p:ext uri="{BB962C8B-B14F-4D97-AF65-F5344CB8AC3E}">
        <p14:creationId xmlns:p14="http://schemas.microsoft.com/office/powerpoint/2010/main" val="1262816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5923F103-BC34-4FE4-A40E-EDDEECFDA5D0}" type="datetimeFigureOut">
              <a:rPr lang="en-US" smtClean="0"/>
              <a:pPr/>
              <a:t>3/31/2026</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64192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3/31/2026</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0009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3/31/2026</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4060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1057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3527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2572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9537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54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1771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701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46347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491108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81608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smtClean="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1329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smtClean="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7939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83699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1815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2BE451C3-0FF4-47C4-B829-773ADF60F88C}" type="datetimeFigureOut">
              <a:rPr lang="en-US" smtClean="0"/>
              <a:t>3/31/2026</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04331368"/>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TU-Logo-250×250 – SJB INSTITUTE OF TECHNOLOGY">
            <a:extLst>
              <a:ext uri="{FF2B5EF4-FFF2-40B4-BE49-F238E27FC236}">
                <a16:creationId xmlns:a16="http://schemas.microsoft.com/office/drawing/2014/main" id="{24D44A04-8C49-35B6-97B7-1745C3F4A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9871" y="900973"/>
            <a:ext cx="908231" cy="9082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go">
            <a:extLst>
              <a:ext uri="{FF2B5EF4-FFF2-40B4-BE49-F238E27FC236}">
                <a16:creationId xmlns:a16="http://schemas.microsoft.com/office/drawing/2014/main" id="{E2E4CD7F-4337-8563-220C-42D5F53316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7464" y="900973"/>
            <a:ext cx="908231" cy="101116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5594E9EC-AC3F-E985-C492-C28E9F3803A4}"/>
              </a:ext>
            </a:extLst>
          </p:cNvPr>
          <p:cNvSpPr/>
          <p:nvPr/>
        </p:nvSpPr>
        <p:spPr>
          <a:xfrm>
            <a:off x="1870572" y="577181"/>
            <a:ext cx="7766892" cy="1251753"/>
          </a:xfrm>
          <a:prstGeom prst="rect">
            <a:avLst/>
          </a:prstGeom>
        </p:spPr>
        <p:txBody>
          <a:bodyPr wrap="square">
            <a:spAutoFit/>
          </a:bodyPr>
          <a:lstStyle/>
          <a:p>
            <a:pPr algn="ctr">
              <a:lnSpc>
                <a:spcPts val="3062"/>
              </a:lnSpc>
            </a:pPr>
            <a:r>
              <a:rPr lang="en-US" sz="1400" b="1" dirty="0">
                <a:ln w="12700" cmpd="sng">
                  <a:solidFill>
                    <a:schemeClr val="accent4"/>
                  </a:solidFill>
                  <a:prstDash val="solid"/>
                </a:ln>
                <a:solidFill>
                  <a:schemeClr val="bg1"/>
                </a:solidFill>
                <a:latin typeface="Times New Roman" panose="02020603050405020304" pitchFamily="18" charset="0"/>
                <a:cs typeface="Times New Roman" panose="02020603050405020304" pitchFamily="18" charset="0"/>
              </a:rPr>
              <a:t>VISVESVARAYA TECHNOLOGICAL UNIVERSITY, BELAGAVI-590018,   KARNATAKA</a:t>
            </a:r>
          </a:p>
          <a:p>
            <a:pPr algn="ctr">
              <a:lnSpc>
                <a:spcPts val="3062"/>
              </a:lnSpc>
            </a:pPr>
            <a:r>
              <a:rPr lang="en-US" sz="2200" dirty="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Bapuji Institute of Engineering and Technology</a:t>
            </a:r>
          </a:p>
          <a:p>
            <a:pPr algn="ctr">
              <a:lnSpc>
                <a:spcPts val="3062"/>
              </a:lnSpc>
            </a:pPr>
            <a:r>
              <a:rPr lang="en-US" sz="2200" dirty="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Davanagere-577004</a:t>
            </a:r>
          </a:p>
        </p:txBody>
      </p:sp>
      <p:sp>
        <p:nvSpPr>
          <p:cNvPr id="11" name="Rectangle 10">
            <a:extLst>
              <a:ext uri="{FF2B5EF4-FFF2-40B4-BE49-F238E27FC236}">
                <a16:creationId xmlns:a16="http://schemas.microsoft.com/office/drawing/2014/main" id="{8C904113-5186-9E58-85FE-785FD55BAC3B}"/>
              </a:ext>
            </a:extLst>
          </p:cNvPr>
          <p:cNvSpPr/>
          <p:nvPr/>
        </p:nvSpPr>
        <p:spPr>
          <a:xfrm>
            <a:off x="3183538" y="1828934"/>
            <a:ext cx="5256760" cy="400110"/>
          </a:xfrm>
          <a:prstGeom prst="rect">
            <a:avLst/>
          </a:prstGeom>
        </p:spPr>
        <p:txBody>
          <a:bodyPr wrap="none">
            <a:spAutoFit/>
          </a:bodyPr>
          <a:lstStyle/>
          <a:p>
            <a:r>
              <a:rPr lang="en-US" sz="2000" b="1" dirty="0">
                <a:solidFill>
                  <a:schemeClr val="bg1"/>
                </a:solidFill>
                <a:latin typeface="Times New Roman" panose="02020603050405020304" pitchFamily="18" charset="0"/>
                <a:cs typeface="Times New Roman" panose="02020603050405020304" pitchFamily="18" charset="0"/>
              </a:rPr>
              <a:t>  Department of Computer Science and Design</a:t>
            </a:r>
          </a:p>
        </p:txBody>
      </p:sp>
      <p:sp>
        <p:nvSpPr>
          <p:cNvPr id="12" name="TextBox 11">
            <a:extLst>
              <a:ext uri="{FF2B5EF4-FFF2-40B4-BE49-F238E27FC236}">
                <a16:creationId xmlns:a16="http://schemas.microsoft.com/office/drawing/2014/main" id="{CB9971B7-AF20-A0B4-84A6-40AA3F5D3C26}"/>
              </a:ext>
            </a:extLst>
          </p:cNvPr>
          <p:cNvSpPr txBox="1"/>
          <p:nvPr/>
        </p:nvSpPr>
        <p:spPr>
          <a:xfrm>
            <a:off x="570597" y="2357412"/>
            <a:ext cx="10654130" cy="1446550"/>
          </a:xfrm>
          <a:prstGeom prst="rect">
            <a:avLst/>
          </a:prstGeom>
          <a:noFill/>
        </p:spPr>
        <p:txBody>
          <a:bodyPr wrap="square" rtlCol="0">
            <a:spAutoFit/>
          </a:bodyPr>
          <a:lstStyle/>
          <a:p>
            <a:pPr algn="ctr"/>
            <a:r>
              <a:rPr lang="en-IN" sz="2000" b="1" dirty="0">
                <a:solidFill>
                  <a:schemeClr val="bg1"/>
                </a:solidFill>
                <a:latin typeface="Times New Roman" panose="02020603050405020304" pitchFamily="18" charset="0"/>
                <a:cs typeface="Times New Roman" panose="02020603050405020304" pitchFamily="18" charset="0"/>
              </a:rPr>
              <a:t>“PROJECT PHASE - I PRESENTATION”</a:t>
            </a:r>
          </a:p>
          <a:p>
            <a:r>
              <a:rPr lang="en-IN" sz="2000" b="1" dirty="0">
                <a:solidFill>
                  <a:schemeClr val="bg1"/>
                </a:solidFill>
                <a:latin typeface="Times New Roman" panose="02020603050405020304" pitchFamily="18" charset="0"/>
                <a:cs typeface="Times New Roman" panose="02020603050405020304" pitchFamily="18" charset="0"/>
              </a:rPr>
              <a:t>                                                                             on</a:t>
            </a:r>
            <a:r>
              <a:rPr lang="en-US" sz="2000" dirty="0">
                <a:solidFill>
                  <a:schemeClr val="bg1"/>
                </a:solidFill>
                <a:latin typeface="Times New Roman" panose="02020603050405020304" pitchFamily="18" charset="0"/>
                <a:cs typeface="Times New Roman" panose="02020603050405020304" pitchFamily="18" charset="0"/>
              </a:rPr>
              <a:t>        </a:t>
            </a:r>
          </a:p>
          <a:p>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Title: Deep Vision: AI – Based Intelligent Surveillance </a:t>
            </a:r>
            <a:endParaRPr lang="en-US" sz="2000" b="1" dirty="0">
              <a:latin typeface="Times New Roman" panose="02020603050405020304" pitchFamily="18" charset="0"/>
              <a:cs typeface="Times New Roman" panose="02020603050405020304" pitchFamily="18" charset="0"/>
            </a:endParaRPr>
          </a:p>
          <a:p>
            <a:endParaRPr lang="en-IN" sz="2800" dirty="0">
              <a:solidFill>
                <a:schemeClr val="bg1"/>
              </a:solidFill>
            </a:endParaRPr>
          </a:p>
        </p:txBody>
      </p:sp>
      <p:sp>
        <p:nvSpPr>
          <p:cNvPr id="14" name="TextBox 13">
            <a:extLst>
              <a:ext uri="{FF2B5EF4-FFF2-40B4-BE49-F238E27FC236}">
                <a16:creationId xmlns:a16="http://schemas.microsoft.com/office/drawing/2014/main" id="{8B47100D-7D8D-69D7-4EA5-B65686B3D7A8}"/>
              </a:ext>
            </a:extLst>
          </p:cNvPr>
          <p:cNvSpPr txBox="1"/>
          <p:nvPr/>
        </p:nvSpPr>
        <p:spPr>
          <a:xfrm>
            <a:off x="1272470" y="5017352"/>
            <a:ext cx="10887395" cy="1015663"/>
          </a:xfrm>
          <a:prstGeom prst="rect">
            <a:avLst/>
          </a:prstGeom>
          <a:noFill/>
        </p:spPr>
        <p:txBody>
          <a:bodyPr wrap="square" rtlCol="0">
            <a:spAutoFit/>
          </a:bodyPr>
          <a:lstStyle/>
          <a:p>
            <a:r>
              <a:rPr lang="en-IN" sz="2200" b="1" u="sng" dirty="0">
                <a:solidFill>
                  <a:schemeClr val="bg1"/>
                </a:solidFill>
                <a:latin typeface="Times New Roman" panose="02020603050405020304" pitchFamily="18" charset="0"/>
                <a:cs typeface="Times New Roman" panose="02020603050405020304" pitchFamily="18" charset="0"/>
              </a:rPr>
              <a:t>Project Guide</a:t>
            </a:r>
            <a:r>
              <a:rPr lang="en-IN" sz="2200" b="1" dirty="0">
                <a:solidFill>
                  <a:schemeClr val="bg1"/>
                </a:solidFill>
                <a:latin typeface="Times New Roman" panose="02020603050405020304" pitchFamily="18" charset="0"/>
                <a:cs typeface="Times New Roman" panose="02020603050405020304" pitchFamily="18" charset="0"/>
              </a:rPr>
              <a:t>:                      </a:t>
            </a:r>
            <a:r>
              <a:rPr lang="en-IN" sz="2200" b="1" u="sng" dirty="0">
                <a:solidFill>
                  <a:schemeClr val="bg1"/>
                </a:solidFill>
                <a:latin typeface="Times New Roman" panose="02020603050405020304" pitchFamily="18" charset="0"/>
                <a:cs typeface="Times New Roman" panose="02020603050405020304" pitchFamily="18" charset="0"/>
              </a:rPr>
              <a:t>Project Coordinator</a:t>
            </a:r>
            <a:r>
              <a:rPr lang="en-IN" sz="2200" b="1" dirty="0">
                <a:solidFill>
                  <a:schemeClr val="bg1"/>
                </a:solidFill>
                <a:latin typeface="Times New Roman" panose="02020603050405020304" pitchFamily="18" charset="0"/>
                <a:cs typeface="Times New Roman" panose="02020603050405020304" pitchFamily="18" charset="0"/>
              </a:rPr>
              <a:t>:            </a:t>
            </a:r>
            <a:r>
              <a:rPr lang="en-IN" sz="2200" b="1" u="sng" dirty="0">
                <a:solidFill>
                  <a:schemeClr val="bg1"/>
                </a:solidFill>
                <a:latin typeface="Times New Roman" panose="02020603050405020304" pitchFamily="18" charset="0"/>
                <a:cs typeface="Times New Roman" panose="02020603050405020304" pitchFamily="18" charset="0"/>
              </a:rPr>
              <a:t>Program Coordinator:         </a:t>
            </a:r>
          </a:p>
          <a:p>
            <a:r>
              <a:rPr lang="en-IN" dirty="0">
                <a:solidFill>
                  <a:schemeClr val="bg1"/>
                </a:solidFill>
                <a:latin typeface="Times New Roman" panose="02020603050405020304" pitchFamily="18" charset="0"/>
                <a:cs typeface="Times New Roman" panose="02020603050405020304" pitchFamily="18" charset="0"/>
              </a:rPr>
              <a:t>Prof. </a:t>
            </a:r>
            <a:r>
              <a:rPr lang="en-IN" dirty="0" err="1">
                <a:solidFill>
                  <a:schemeClr val="bg1"/>
                </a:solidFill>
                <a:latin typeface="Times New Roman" panose="02020603050405020304" pitchFamily="18" charset="0"/>
                <a:cs typeface="Times New Roman" panose="02020603050405020304" pitchFamily="18" charset="0"/>
              </a:rPr>
              <a:t>Kaveri.C</a:t>
            </a:r>
            <a:r>
              <a:rPr lang="en-IN" dirty="0">
                <a:solidFill>
                  <a:schemeClr val="bg1"/>
                </a:solidFill>
                <a:latin typeface="Times New Roman" panose="02020603050405020304" pitchFamily="18" charset="0"/>
                <a:cs typeface="Times New Roman" panose="02020603050405020304" pitchFamily="18" charset="0"/>
              </a:rPr>
              <a:t> </a:t>
            </a:r>
            <a:r>
              <a:rPr lang="en-US" sz="1400" dirty="0">
                <a:solidFill>
                  <a:schemeClr val="bg1">
                    <a:lumMod val="95000"/>
                  </a:schemeClr>
                </a:solidFill>
                <a:latin typeface="Times New Roman" panose="02020603050405020304" pitchFamily="18" charset="0"/>
                <a:cs typeface="Times New Roman" panose="02020603050405020304" pitchFamily="18" charset="0"/>
              </a:rPr>
              <a:t>B.E, </a:t>
            </a:r>
            <a:r>
              <a:rPr lang="en-US" sz="1400" dirty="0" err="1">
                <a:solidFill>
                  <a:schemeClr val="bg1">
                    <a:lumMod val="95000"/>
                  </a:schemeClr>
                </a:solidFill>
                <a:latin typeface="Times New Roman" panose="02020603050405020304" pitchFamily="18" charset="0"/>
                <a:cs typeface="Times New Roman" panose="02020603050405020304" pitchFamily="18" charset="0"/>
              </a:rPr>
              <a:t>M.Tech</a:t>
            </a:r>
            <a:r>
              <a:rPr lang="en-US" sz="1400" dirty="0">
                <a:solidFill>
                  <a:schemeClr val="bg1">
                    <a:lumMod val="95000"/>
                  </a:schemeClr>
                </a:solidFill>
                <a:latin typeface="Times New Roman" panose="02020603050405020304" pitchFamily="18" charset="0"/>
                <a:cs typeface="Times New Roman" panose="02020603050405020304" pitchFamily="18" charset="0"/>
              </a:rPr>
              <a:t>.</a:t>
            </a:r>
            <a:r>
              <a:rPr lang="en-IN" sz="1400" dirty="0">
                <a:solidFill>
                  <a:schemeClr val="bg1">
                    <a:lumMod val="95000"/>
                  </a:schemeClr>
                </a:solidFill>
                <a:latin typeface="Times New Roman" panose="02020603050405020304" pitchFamily="18" charset="0"/>
                <a:cs typeface="Times New Roman" panose="02020603050405020304" pitchFamily="18" charset="0"/>
              </a:rPr>
              <a:t>                      </a:t>
            </a:r>
            <a:r>
              <a:rPr lang="en-IN" dirty="0">
                <a:solidFill>
                  <a:schemeClr val="bg1"/>
                </a:solidFill>
                <a:latin typeface="Times New Roman" panose="02020603050405020304" pitchFamily="18" charset="0"/>
                <a:cs typeface="Times New Roman" panose="02020603050405020304" pitchFamily="18" charset="0"/>
              </a:rPr>
              <a:t>Dr. Sreenivasa B R </a:t>
            </a:r>
            <a:r>
              <a:rPr lang="en-IN" sz="1200" dirty="0">
                <a:solidFill>
                  <a:schemeClr val="bg1"/>
                </a:solidFill>
                <a:latin typeface="Times New Roman" panose="02020603050405020304" pitchFamily="18" charset="0"/>
                <a:cs typeface="Times New Roman" panose="02020603050405020304" pitchFamily="18" charset="0"/>
              </a:rPr>
              <a:t>B.E, Ph.D.                      </a:t>
            </a:r>
            <a:r>
              <a:rPr lang="en-US" dirty="0">
                <a:solidFill>
                  <a:schemeClr val="bg1">
                    <a:lumMod val="95000"/>
                  </a:schemeClr>
                </a:solidFill>
                <a:latin typeface="Times New Roman" panose="02020603050405020304" pitchFamily="18" charset="0"/>
                <a:cs typeface="Times New Roman" panose="02020603050405020304" pitchFamily="18" charset="0"/>
              </a:rPr>
              <a:t>Dr. Chetana Prakash</a:t>
            </a:r>
            <a:r>
              <a:rPr lang="en-US" b="1" dirty="0">
                <a:solidFill>
                  <a:schemeClr val="bg1">
                    <a:lumMod val="95000"/>
                  </a:schemeClr>
                </a:solidFill>
                <a:latin typeface="Times New Roman" panose="02020603050405020304" pitchFamily="18" charset="0"/>
                <a:cs typeface="Times New Roman" panose="02020603050405020304" pitchFamily="18" charset="0"/>
              </a:rPr>
              <a:t> </a:t>
            </a:r>
            <a:r>
              <a:rPr lang="en-US" sz="1200" b="1" dirty="0">
                <a:solidFill>
                  <a:schemeClr val="bg1">
                    <a:lumMod val="95000"/>
                  </a:schemeClr>
                </a:solidFill>
                <a:latin typeface="Times New Roman" panose="02020603050405020304" pitchFamily="18" charset="0"/>
                <a:cs typeface="Times New Roman" panose="02020603050405020304" pitchFamily="18" charset="0"/>
              </a:rPr>
              <a:t>M.S., </a:t>
            </a:r>
            <a:r>
              <a:rPr lang="en-US" sz="1200" b="1" dirty="0" err="1">
                <a:solidFill>
                  <a:schemeClr val="bg1">
                    <a:lumMod val="95000"/>
                  </a:schemeClr>
                </a:solidFill>
                <a:latin typeface="Times New Roman" panose="02020603050405020304" pitchFamily="18" charset="0"/>
                <a:cs typeface="Times New Roman" panose="02020603050405020304" pitchFamily="18" charset="0"/>
              </a:rPr>
              <a:t>Ph.D</a:t>
            </a:r>
            <a:r>
              <a:rPr lang="en-IN" sz="1200" dirty="0">
                <a:solidFill>
                  <a:schemeClr val="bg1">
                    <a:lumMod val="95000"/>
                  </a:schemeClr>
                </a:solidFill>
                <a:latin typeface="Times New Roman" panose="02020603050405020304" pitchFamily="18" charset="0"/>
                <a:cs typeface="Times New Roman" panose="02020603050405020304" pitchFamily="18" charset="0"/>
              </a:rPr>
              <a:t>       </a:t>
            </a:r>
            <a:endParaRPr lang="en-US" sz="1200" dirty="0">
              <a:solidFill>
                <a:schemeClr val="bg1">
                  <a:lumMod val="95000"/>
                </a:schemeClr>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dept. CS&amp;D                                       professor of dept. CS&amp;D                 professor &amp; head of dept. CS&amp;D</a:t>
            </a:r>
            <a:endParaRPr lang="en-IN" dirty="0"/>
          </a:p>
        </p:txBody>
      </p:sp>
      <p:sp>
        <p:nvSpPr>
          <p:cNvPr id="15" name="TextBox 14">
            <a:extLst>
              <a:ext uri="{FF2B5EF4-FFF2-40B4-BE49-F238E27FC236}">
                <a16:creationId xmlns:a16="http://schemas.microsoft.com/office/drawing/2014/main" id="{09D25770-EFED-9932-D0B0-D1074D891A69}"/>
              </a:ext>
            </a:extLst>
          </p:cNvPr>
          <p:cNvSpPr txBox="1"/>
          <p:nvPr/>
        </p:nvSpPr>
        <p:spPr>
          <a:xfrm>
            <a:off x="3585551" y="3386136"/>
            <a:ext cx="5020897" cy="1631216"/>
          </a:xfrm>
          <a:prstGeom prst="rect">
            <a:avLst/>
          </a:prstGeom>
          <a:noFill/>
        </p:spPr>
        <p:txBody>
          <a:bodyPr wrap="square" rtlCol="0">
            <a:spAutoFit/>
          </a:bodyPr>
          <a:lstStyle/>
          <a:p>
            <a:r>
              <a:rPr lang="en-IN" sz="2200" b="1" dirty="0">
                <a:solidFill>
                  <a:schemeClr val="bg1"/>
                </a:solidFill>
                <a:latin typeface="Times New Roman" panose="02020603050405020304" pitchFamily="18" charset="0"/>
                <a:cs typeface="Times New Roman" panose="02020603050405020304" pitchFamily="18" charset="0"/>
              </a:rPr>
              <a:t>  </a:t>
            </a:r>
            <a:r>
              <a:rPr lang="en-IN" b="1" u="sng" dirty="0">
                <a:solidFill>
                  <a:schemeClr val="bg1"/>
                </a:solidFill>
                <a:latin typeface="Times New Roman" panose="02020603050405020304" pitchFamily="18" charset="0"/>
                <a:cs typeface="Times New Roman" panose="02020603050405020304" pitchFamily="18" charset="0"/>
              </a:rPr>
              <a:t>Presented  By</a:t>
            </a:r>
            <a:r>
              <a:rPr lang="en-IN" b="1" dirty="0">
                <a:solidFill>
                  <a:schemeClr val="bg1"/>
                </a:solidFill>
                <a:latin typeface="Times New Roman" panose="02020603050405020304" pitchFamily="18" charset="0"/>
                <a:cs typeface="Times New Roman" panose="02020603050405020304" pitchFamily="18" charset="0"/>
              </a:rPr>
              <a:t>:</a:t>
            </a:r>
          </a:p>
          <a:p>
            <a:r>
              <a:rPr lang="en-IN" sz="1400" b="1" dirty="0">
                <a:solidFill>
                  <a:schemeClr val="bg1"/>
                </a:solidFill>
                <a:latin typeface="Times New Roman" panose="02020603050405020304" pitchFamily="18" charset="0"/>
                <a:cs typeface="Times New Roman" panose="02020603050405020304" pitchFamily="18" charset="0"/>
              </a:rPr>
              <a:t>   </a:t>
            </a:r>
            <a:r>
              <a:rPr lang="en-IN" sz="1400" b="1" dirty="0" err="1">
                <a:solidFill>
                  <a:schemeClr val="bg1"/>
                </a:solidFill>
                <a:latin typeface="Times New Roman" panose="02020603050405020304" pitchFamily="18" charset="0"/>
                <a:cs typeface="Times New Roman" panose="02020603050405020304" pitchFamily="18" charset="0"/>
              </a:rPr>
              <a:t>Joycina</a:t>
            </a:r>
            <a:r>
              <a:rPr lang="en-IN" sz="1400" b="1" dirty="0">
                <a:solidFill>
                  <a:schemeClr val="bg1"/>
                </a:solidFill>
                <a:latin typeface="Times New Roman" panose="02020603050405020304" pitchFamily="18" charset="0"/>
                <a:cs typeface="Times New Roman" panose="02020603050405020304" pitchFamily="18" charset="0"/>
              </a:rPr>
              <a:t> Shiny M Achary             4BD23CG015</a:t>
            </a:r>
          </a:p>
          <a:p>
            <a:r>
              <a:rPr lang="en-IN" sz="1400" b="1" dirty="0">
                <a:solidFill>
                  <a:schemeClr val="bg1"/>
                </a:solidFill>
                <a:latin typeface="Times New Roman" panose="02020603050405020304" pitchFamily="18" charset="0"/>
                <a:cs typeface="Times New Roman" panose="02020603050405020304" pitchFamily="18" charset="0"/>
              </a:rPr>
              <a:t>   Lakshmi S Acharya                     4BD23CG017</a:t>
            </a:r>
          </a:p>
          <a:p>
            <a:r>
              <a:rPr lang="en-IN" sz="1400" b="1" dirty="0">
                <a:solidFill>
                  <a:schemeClr val="bg1"/>
                </a:solidFill>
                <a:latin typeface="Times New Roman" panose="02020603050405020304" pitchFamily="18" charset="0"/>
                <a:cs typeface="Times New Roman" panose="02020603050405020304" pitchFamily="18" charset="0"/>
              </a:rPr>
              <a:t>   Arjun G R                                     4BD24CG401</a:t>
            </a:r>
          </a:p>
          <a:p>
            <a:r>
              <a:rPr lang="en-IN" dirty="0"/>
              <a:t>  </a:t>
            </a:r>
            <a:r>
              <a:rPr lang="en-IN" sz="1400" b="1" dirty="0">
                <a:solidFill>
                  <a:schemeClr val="bg1"/>
                </a:solidFill>
                <a:latin typeface="Times New Roman" panose="02020603050405020304" pitchFamily="18" charset="0"/>
                <a:cs typeface="Times New Roman" panose="02020603050405020304" pitchFamily="18" charset="0"/>
              </a:rPr>
              <a:t>Vaibhav S </a:t>
            </a:r>
            <a:r>
              <a:rPr lang="en-IN" sz="1400" b="1" dirty="0" err="1">
                <a:solidFill>
                  <a:schemeClr val="bg1"/>
                </a:solidFill>
                <a:latin typeface="Times New Roman" panose="02020603050405020304" pitchFamily="18" charset="0"/>
                <a:cs typeface="Times New Roman" panose="02020603050405020304" pitchFamily="18" charset="0"/>
              </a:rPr>
              <a:t>Wandkar</a:t>
            </a:r>
            <a:r>
              <a:rPr lang="en-IN" sz="1400" b="1" dirty="0">
                <a:solidFill>
                  <a:schemeClr val="bg1"/>
                </a:solidFill>
                <a:latin typeface="Times New Roman" panose="02020603050405020304" pitchFamily="18" charset="0"/>
                <a:cs typeface="Times New Roman" panose="02020603050405020304" pitchFamily="18" charset="0"/>
              </a:rPr>
              <a:t>                     4BD24CG409</a:t>
            </a:r>
          </a:p>
          <a:p>
            <a:endParaRPr lang="en-IN" dirty="0"/>
          </a:p>
        </p:txBody>
      </p:sp>
    </p:spTree>
    <p:extLst>
      <p:ext uri="{BB962C8B-B14F-4D97-AF65-F5344CB8AC3E}">
        <p14:creationId xmlns:p14="http://schemas.microsoft.com/office/powerpoint/2010/main" val="1792914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8D08A-3BD2-C7FC-AB83-AA460604B5B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CONTENTS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FAA95F-3EDF-11B3-33F2-5C82674CE22E}"/>
              </a:ext>
            </a:extLst>
          </p:cNvPr>
          <p:cNvSpPr>
            <a:spLocks noGrp="1"/>
          </p:cNvSpPr>
          <p:nvPr>
            <p:ph idx="1"/>
          </p:nvPr>
        </p:nvSpPr>
        <p:spPr>
          <a:xfrm>
            <a:off x="497712" y="2128058"/>
            <a:ext cx="9482902" cy="4194084"/>
          </a:xfrm>
        </p:spPr>
        <p:txBody>
          <a:bodyPr>
            <a:normAutofit fontScale="92500"/>
          </a:bodyPr>
          <a:lstStyle/>
          <a:p>
            <a:pPr marL="0" indent="0" algn="just">
              <a:buNone/>
            </a:pPr>
            <a:endParaRPr lang="en-US" sz="2000" b="1" dirty="0">
              <a:latin typeface="Time new roman"/>
            </a:endParaRPr>
          </a:p>
          <a:p>
            <a:pPr marL="457200" indent="-457200" algn="just">
              <a:lnSpc>
                <a:spcPct val="150000"/>
              </a:lnSpc>
              <a:buFont typeface="+mj-lt"/>
              <a:buAutoNum type="arabicPeriod"/>
            </a:pPr>
            <a:r>
              <a:rPr lang="en-US" sz="2400" b="1" dirty="0">
                <a:solidFill>
                  <a:srgbClr val="14171E"/>
                </a:solidFill>
                <a:latin typeface="Times New Roman" panose="02020603050405020304" pitchFamily="18" charset="0"/>
                <a:cs typeface="Times New Roman" panose="02020603050405020304" pitchFamily="18" charset="0"/>
              </a:rPr>
              <a:t>Introduction</a:t>
            </a:r>
          </a:p>
          <a:p>
            <a:pPr marL="457200" indent="-457200" algn="just">
              <a:lnSpc>
                <a:spcPct val="150000"/>
              </a:lnSpc>
              <a:buFont typeface="+mj-lt"/>
              <a:buAutoNum type="arabicPeriod"/>
            </a:pPr>
            <a:r>
              <a:rPr lang="en-US" sz="2400" b="1" dirty="0">
                <a:solidFill>
                  <a:srgbClr val="14171E"/>
                </a:solidFill>
                <a:latin typeface="Times New Roman" panose="02020603050405020304" pitchFamily="18" charset="0"/>
                <a:cs typeface="Times New Roman" panose="02020603050405020304" pitchFamily="18" charset="0"/>
              </a:rPr>
              <a:t>Literature Survey</a:t>
            </a:r>
          </a:p>
          <a:p>
            <a:pPr marL="457200" indent="-457200" algn="just">
              <a:lnSpc>
                <a:spcPct val="150000"/>
              </a:lnSpc>
              <a:buFont typeface="+mj-lt"/>
              <a:buAutoNum type="arabicPeriod"/>
            </a:pPr>
            <a:r>
              <a:rPr lang="en-US" sz="2400" b="1" dirty="0">
                <a:solidFill>
                  <a:srgbClr val="14171E"/>
                </a:solidFill>
                <a:latin typeface="Times New Roman" panose="02020603050405020304" pitchFamily="18" charset="0"/>
                <a:cs typeface="Times New Roman" panose="02020603050405020304" pitchFamily="18" charset="0"/>
              </a:rPr>
              <a:t>Problem Statement</a:t>
            </a:r>
          </a:p>
          <a:p>
            <a:pPr marL="457200" indent="-457200" algn="just">
              <a:lnSpc>
                <a:spcPct val="150000"/>
              </a:lnSpc>
              <a:buFont typeface="+mj-lt"/>
              <a:buAutoNum type="arabicPeriod"/>
            </a:pPr>
            <a:r>
              <a:rPr lang="en-US" sz="2400" b="1" dirty="0">
                <a:solidFill>
                  <a:srgbClr val="14171E"/>
                </a:solidFill>
                <a:latin typeface="Times New Roman" panose="02020603050405020304" pitchFamily="18" charset="0"/>
                <a:cs typeface="Times New Roman" panose="02020603050405020304" pitchFamily="18" charset="0"/>
              </a:rPr>
              <a:t>Objectives </a:t>
            </a:r>
          </a:p>
          <a:p>
            <a:pPr marL="457200" indent="-457200" algn="just">
              <a:lnSpc>
                <a:spcPct val="150000"/>
              </a:lnSpc>
              <a:buFont typeface="+mj-lt"/>
              <a:buAutoNum type="arabicPeriod"/>
            </a:pPr>
            <a:r>
              <a:rPr lang="en-US" sz="2400" b="1" dirty="0">
                <a:solidFill>
                  <a:srgbClr val="14171E"/>
                </a:solidFill>
                <a:latin typeface="Times New Roman" panose="02020603050405020304" pitchFamily="18" charset="0"/>
                <a:cs typeface="Times New Roman" panose="02020603050405020304" pitchFamily="18" charset="0"/>
              </a:rPr>
              <a:t>System Requirements</a:t>
            </a:r>
          </a:p>
          <a:p>
            <a:pPr marL="457200" indent="-457200" algn="just">
              <a:lnSpc>
                <a:spcPct val="150000"/>
              </a:lnSpc>
              <a:buFont typeface="+mj-lt"/>
              <a:buAutoNum type="arabicPeriod"/>
            </a:pPr>
            <a:r>
              <a:rPr lang="en-US" sz="2400" b="1" dirty="0">
                <a:solidFill>
                  <a:srgbClr val="14171E"/>
                </a:solidFill>
                <a:latin typeface="Times New Roman" panose="02020603050405020304" pitchFamily="18" charset="0"/>
                <a:cs typeface="Times New Roman" panose="02020603050405020304" pitchFamily="18" charset="0"/>
              </a:rPr>
              <a:t>Methodology</a:t>
            </a:r>
          </a:p>
          <a:p>
            <a:pPr marL="0" indent="0" algn="just">
              <a:buNone/>
            </a:pPr>
            <a:endParaRPr lang="en-US" sz="2000" b="1" dirty="0">
              <a:latin typeface="Time new roman"/>
            </a:endParaRPr>
          </a:p>
          <a:p>
            <a:pPr>
              <a:buFont typeface="+mj-lt"/>
              <a:buAutoNum type="arabicPeriod"/>
            </a:pPr>
            <a:endParaRPr lang="en-IN" b="1" dirty="0"/>
          </a:p>
        </p:txBody>
      </p:sp>
    </p:spTree>
    <p:extLst>
      <p:ext uri="{BB962C8B-B14F-4D97-AF65-F5344CB8AC3E}">
        <p14:creationId xmlns:p14="http://schemas.microsoft.com/office/powerpoint/2010/main" val="3903918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E4828-B4CA-7A9F-FF03-671C0A2C058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 :</a:t>
            </a:r>
          </a:p>
        </p:txBody>
      </p:sp>
      <p:sp>
        <p:nvSpPr>
          <p:cNvPr id="6" name="TextBox 5">
            <a:extLst>
              <a:ext uri="{FF2B5EF4-FFF2-40B4-BE49-F238E27FC236}">
                <a16:creationId xmlns:a16="http://schemas.microsoft.com/office/drawing/2014/main" id="{94925740-A4A7-41D2-C874-97A02121340E}"/>
              </a:ext>
            </a:extLst>
          </p:cNvPr>
          <p:cNvSpPr txBox="1"/>
          <p:nvPr/>
        </p:nvSpPr>
        <p:spPr>
          <a:xfrm>
            <a:off x="592237" y="2530101"/>
            <a:ext cx="10752881" cy="2795958"/>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Deep Vision Surveillance</a:t>
            </a:r>
            <a:r>
              <a:rPr lang="en-US" sz="2400" dirty="0">
                <a:latin typeface="Times New Roman" panose="02020603050405020304" pitchFamily="18" charset="0"/>
                <a:cs typeface="Times New Roman" panose="02020603050405020304" pitchFamily="18" charset="0"/>
              </a:rPr>
              <a:t> is an AI-based system that monitors video live events and detects suspicious activities in real time. Unlike traditional CCTV systems that depend on constant human observation, it uses Artificial Intelligence and Computer Vision to automatically analyze footage and generate instant alerts. This improves security, reduces human effort, and ensures faster response to possible dangers.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0073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154BD-2C96-439F-2742-EDCC8D2044E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 :</a:t>
            </a:r>
          </a:p>
        </p:txBody>
      </p:sp>
      <p:graphicFrame>
        <p:nvGraphicFramePr>
          <p:cNvPr id="13" name="Table 12">
            <a:extLst>
              <a:ext uri="{FF2B5EF4-FFF2-40B4-BE49-F238E27FC236}">
                <a16:creationId xmlns:a16="http://schemas.microsoft.com/office/drawing/2014/main" id="{18645E41-71C6-9415-A349-6CD6BBAED61E}"/>
              </a:ext>
            </a:extLst>
          </p:cNvPr>
          <p:cNvGraphicFramePr>
            <a:graphicFrameLocks noGrp="1"/>
          </p:cNvGraphicFramePr>
          <p:nvPr>
            <p:extLst>
              <p:ext uri="{D42A27DB-BD31-4B8C-83A1-F6EECF244321}">
                <p14:modId xmlns:p14="http://schemas.microsoft.com/office/powerpoint/2010/main" val="2744527354"/>
              </p:ext>
            </p:extLst>
          </p:nvPr>
        </p:nvGraphicFramePr>
        <p:xfrm>
          <a:off x="0" y="3017520"/>
          <a:ext cx="12192000" cy="3693012"/>
        </p:xfrm>
        <a:graphic>
          <a:graphicData uri="http://schemas.openxmlformats.org/drawingml/2006/table">
            <a:tbl>
              <a:tblPr firstRow="1" bandRow="1">
                <a:tableStyleId>{5C22544A-7EE6-4342-B048-85BDC9FD1C3A}</a:tableStyleId>
              </a:tblPr>
              <a:tblGrid>
                <a:gridCol w="850228">
                  <a:extLst>
                    <a:ext uri="{9D8B030D-6E8A-4147-A177-3AD203B41FA5}">
                      <a16:colId xmlns:a16="http://schemas.microsoft.com/office/drawing/2014/main" val="4029534529"/>
                    </a:ext>
                  </a:extLst>
                </a:gridCol>
                <a:gridCol w="2450611">
                  <a:extLst>
                    <a:ext uri="{9D8B030D-6E8A-4147-A177-3AD203B41FA5}">
                      <a16:colId xmlns:a16="http://schemas.microsoft.com/office/drawing/2014/main" val="881383448"/>
                    </a:ext>
                  </a:extLst>
                </a:gridCol>
                <a:gridCol w="1643744">
                  <a:extLst>
                    <a:ext uri="{9D8B030D-6E8A-4147-A177-3AD203B41FA5}">
                      <a16:colId xmlns:a16="http://schemas.microsoft.com/office/drawing/2014/main" val="3464848709"/>
                    </a:ext>
                  </a:extLst>
                </a:gridCol>
                <a:gridCol w="2316185">
                  <a:extLst>
                    <a:ext uri="{9D8B030D-6E8A-4147-A177-3AD203B41FA5}">
                      <a16:colId xmlns:a16="http://schemas.microsoft.com/office/drawing/2014/main" val="725894641"/>
                    </a:ext>
                  </a:extLst>
                </a:gridCol>
                <a:gridCol w="2440710">
                  <a:extLst>
                    <a:ext uri="{9D8B030D-6E8A-4147-A177-3AD203B41FA5}">
                      <a16:colId xmlns:a16="http://schemas.microsoft.com/office/drawing/2014/main" val="2762938025"/>
                    </a:ext>
                  </a:extLst>
                </a:gridCol>
                <a:gridCol w="2490522">
                  <a:extLst>
                    <a:ext uri="{9D8B030D-6E8A-4147-A177-3AD203B41FA5}">
                      <a16:colId xmlns:a16="http://schemas.microsoft.com/office/drawing/2014/main" val="688399161"/>
                    </a:ext>
                  </a:extLst>
                </a:gridCol>
              </a:tblGrid>
              <a:tr h="836785">
                <a:tc>
                  <a:txBody>
                    <a:bodyPr/>
                    <a:lstStyle/>
                    <a:p>
                      <a:pPr>
                        <a:buNone/>
                      </a:pPr>
                      <a:r>
                        <a:rPr lang="en-IN" dirty="0" err="1">
                          <a:latin typeface="Times New Roman" panose="02020603050405020304" pitchFamily="18" charset="0"/>
                          <a:cs typeface="Times New Roman" panose="02020603050405020304" pitchFamily="18" charset="0"/>
                        </a:rPr>
                        <a:t>Sl.No</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a:latin typeface="Times New Roman" panose="02020603050405020304" pitchFamily="18" charset="0"/>
                          <a:cs typeface="Times New Roman" panose="02020603050405020304" pitchFamily="18" charset="0"/>
                        </a:rPr>
                        <a:t>Publication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Authors &amp; Year</a:t>
                      </a:r>
                    </a:p>
                  </a:txBody>
                  <a:tcPr anchor="ctr"/>
                </a:tc>
                <a:tc>
                  <a:txBody>
                    <a:bodyPr/>
                    <a:lstStyle/>
                    <a:p>
                      <a:pPr>
                        <a:buNone/>
                      </a:pPr>
                      <a:r>
                        <a:rPr lang="en-IN">
                          <a:latin typeface="Times New Roman" panose="02020603050405020304" pitchFamily="18" charset="0"/>
                          <a:cs typeface="Times New Roman" panose="02020603050405020304" pitchFamily="18" charset="0"/>
                        </a:rPr>
                        <a:t>Methodology (Tools, Technologies, Framework)</a:t>
                      </a:r>
                    </a:p>
                  </a:txBody>
                  <a:tcPr anchor="ctr"/>
                </a:tc>
                <a:tc>
                  <a:txBody>
                    <a:bodyPr/>
                    <a:lstStyle/>
                    <a:p>
                      <a:pPr>
                        <a:buNone/>
                      </a:pPr>
                      <a:r>
                        <a:rPr lang="en-IN" dirty="0">
                          <a:latin typeface="Times New Roman" panose="02020603050405020304" pitchFamily="18" charset="0"/>
                          <a:cs typeface="Times New Roman" panose="02020603050405020304" pitchFamily="18" charset="0"/>
                        </a:rPr>
                        <a:t>Gaps Identified</a:t>
                      </a:r>
                    </a:p>
                  </a:txBody>
                  <a:tcPr anchor="ctr"/>
                </a:tc>
                <a:extLst>
                  <a:ext uri="{0D108BD9-81ED-4DB2-BD59-A6C34878D82A}">
                    <a16:rowId xmlns:a16="http://schemas.microsoft.com/office/drawing/2014/main" val="1266481181"/>
                  </a:ext>
                </a:extLst>
              </a:tr>
              <a:tr h="1087821">
                <a:tc>
                  <a:txBody>
                    <a:bodyPr/>
                    <a:lstStyle/>
                    <a:p>
                      <a:pPr>
                        <a:buNone/>
                      </a:pPr>
                      <a:r>
                        <a:rPr lang="en-IN" dirty="0">
                          <a:latin typeface="Times New Roman" panose="02020603050405020304" pitchFamily="18" charset="0"/>
                          <a:cs typeface="Times New Roman" panose="02020603050405020304" pitchFamily="18" charset="0"/>
                        </a:rPr>
                        <a:t>1.</a:t>
                      </a:r>
                    </a:p>
                  </a:txBody>
                  <a:tcPr anchor="ctr"/>
                </a:tc>
                <a:tc>
                  <a:txBody>
                    <a:bodyPr/>
                    <a:lstStyle/>
                    <a:p>
                      <a:pPr>
                        <a:buNone/>
                      </a:pPr>
                      <a:r>
                        <a:rPr lang="en-US" dirty="0">
                          <a:latin typeface="Times New Roman" panose="02020603050405020304" pitchFamily="18" charset="0"/>
                          <a:cs typeface="Times New Roman" panose="02020603050405020304" pitchFamily="18" charset="0"/>
                        </a:rPr>
                        <a:t>Suspicious Activity Recognition Using YOLO Algorithm</a:t>
                      </a:r>
                    </a:p>
                  </a:txBody>
                  <a:tcPr anchor="ctr"/>
                </a:tc>
                <a:tc>
                  <a:txBody>
                    <a:bodyPr/>
                    <a:lstStyle/>
                    <a:p>
                      <a:pPr>
                        <a:buNone/>
                      </a:pPr>
                      <a:r>
                        <a:rPr lang="en-IN" dirty="0">
                          <a:latin typeface="Times New Roman" panose="02020603050405020304" pitchFamily="18" charset="0"/>
                          <a:cs typeface="Times New Roman" panose="02020603050405020304" pitchFamily="18" charset="0"/>
                        </a:rPr>
                        <a:t>JETIR</a:t>
                      </a:r>
                    </a:p>
                  </a:txBody>
                  <a:tcPr anchor="ctr"/>
                </a:tc>
                <a:tc>
                  <a:txBody>
                    <a:bodyPr/>
                    <a:lstStyle/>
                    <a:p>
                      <a:pPr>
                        <a:buNone/>
                      </a:pPr>
                      <a:r>
                        <a:rPr lang="nb-NO" dirty="0">
                          <a:latin typeface="Times New Roman" panose="02020603050405020304" pitchFamily="18" charset="0"/>
                          <a:cs typeface="Times New Roman" panose="02020603050405020304" pitchFamily="18" charset="0"/>
                        </a:rPr>
                        <a:t>Gurramkonda Kavya et al., 2023</a:t>
                      </a:r>
                    </a:p>
                  </a:txBody>
                  <a:tcPr anchor="ctr"/>
                </a:tc>
                <a:tc>
                  <a:txBody>
                    <a:bodyPr/>
                    <a:lstStyle/>
                    <a:p>
                      <a:pPr>
                        <a:buNone/>
                      </a:pPr>
                      <a:r>
                        <a:rPr lang="en-US" dirty="0">
                          <a:latin typeface="Times New Roman" panose="02020603050405020304" pitchFamily="18" charset="0"/>
                          <a:cs typeface="Times New Roman" panose="02020603050405020304" pitchFamily="18" charset="0"/>
                        </a:rPr>
                        <a:t>YOLO-based object detection with real-time video analysis and SMS alert system</a:t>
                      </a:r>
                    </a:p>
                  </a:txBody>
                  <a:tcPr anchor="ctr"/>
                </a:tc>
                <a:tc>
                  <a:txBody>
                    <a:bodyPr/>
                    <a:lstStyle/>
                    <a:p>
                      <a:pPr>
                        <a:buNone/>
                      </a:pPr>
                      <a:r>
                        <a:rPr lang="en-US" dirty="0">
                          <a:latin typeface="Times New Roman" panose="02020603050405020304" pitchFamily="18" charset="0"/>
                          <a:cs typeface="Times New Roman" panose="02020603050405020304" pitchFamily="18" charset="0"/>
                        </a:rPr>
                        <a:t>Limited accuracy in complex environments and lacks advanced temporal modeling</a:t>
                      </a:r>
                    </a:p>
                  </a:txBody>
                  <a:tcPr anchor="ctr"/>
                </a:tc>
                <a:extLst>
                  <a:ext uri="{0D108BD9-81ED-4DB2-BD59-A6C34878D82A}">
                    <a16:rowId xmlns:a16="http://schemas.microsoft.com/office/drawing/2014/main" val="1773984428"/>
                  </a:ext>
                </a:extLst>
              </a:tr>
              <a:tr h="1589892">
                <a:tc>
                  <a:txBody>
                    <a:bodyPr/>
                    <a:lstStyle/>
                    <a:p>
                      <a:pPr>
                        <a:buNone/>
                      </a:pPr>
                      <a:r>
                        <a:rPr lang="en-IN" dirty="0">
                          <a:latin typeface="Times New Roman" panose="02020603050405020304" pitchFamily="18" charset="0"/>
                          <a:cs typeface="Times New Roman" panose="02020603050405020304" pitchFamily="18" charset="0"/>
                        </a:rPr>
                        <a:t>2.</a:t>
                      </a:r>
                    </a:p>
                  </a:txBody>
                  <a:tcPr anchor="ctr"/>
                </a:tc>
                <a:tc>
                  <a:txBody>
                    <a:bodyPr/>
                    <a:lstStyle/>
                    <a:p>
                      <a:pPr>
                        <a:buNone/>
                      </a:pPr>
                      <a:r>
                        <a:rPr lang="en-US" dirty="0">
                          <a:latin typeface="Times New Roman" panose="02020603050405020304" pitchFamily="18" charset="0"/>
                          <a:cs typeface="Times New Roman" panose="02020603050405020304" pitchFamily="18" charset="0"/>
                        </a:rPr>
                        <a:t>Human Anomaly Detection System Using YOLOv8 and LSTM</a:t>
                      </a:r>
                    </a:p>
                  </a:txBody>
                  <a:tcPr anchor="ctr"/>
                </a:tc>
                <a:tc>
                  <a:txBody>
                    <a:bodyPr/>
                    <a:lstStyle/>
                    <a:p>
                      <a:pPr>
                        <a:buNone/>
                      </a:pPr>
                      <a:r>
                        <a:rPr lang="en-IN" dirty="0">
                          <a:latin typeface="Times New Roman" panose="02020603050405020304" pitchFamily="18" charset="0"/>
                          <a:cs typeface="Times New Roman" panose="02020603050405020304" pitchFamily="18" charset="0"/>
                        </a:rPr>
                        <a:t>IJRASET</a:t>
                      </a:r>
                    </a:p>
                  </a:txBody>
                  <a:tcPr anchor="ctr"/>
                </a:tc>
                <a:tc>
                  <a:txBody>
                    <a:bodyPr/>
                    <a:lstStyle/>
                    <a:p>
                      <a:pPr>
                        <a:buNone/>
                      </a:pPr>
                      <a:r>
                        <a:rPr lang="da-DK" dirty="0">
                          <a:latin typeface="Times New Roman" panose="02020603050405020304" pitchFamily="18" charset="0"/>
                          <a:cs typeface="Times New Roman" panose="02020603050405020304" pitchFamily="18" charset="0"/>
                        </a:rPr>
                        <a:t>Jash Tandel et al., 2024</a:t>
                      </a:r>
                    </a:p>
                  </a:txBody>
                  <a:tcPr anchor="ctr"/>
                </a:tc>
                <a:tc>
                  <a:txBody>
                    <a:bodyPr/>
                    <a:lstStyle/>
                    <a:p>
                      <a:pPr>
                        <a:buNone/>
                      </a:pPr>
                      <a:r>
                        <a:rPr lang="en-US" dirty="0">
                          <a:latin typeface="Times New Roman" panose="02020603050405020304" pitchFamily="18" charset="0"/>
                          <a:cs typeface="Times New Roman" panose="02020603050405020304" pitchFamily="18" charset="0"/>
                        </a:rPr>
                        <a:t>Uses YOLOv8 for object detection and LSTM for temporal behavior analysis with attention mechanisms</a:t>
                      </a:r>
                    </a:p>
                  </a:txBody>
                  <a:tcPr anchor="ctr"/>
                </a:tc>
                <a:tc>
                  <a:txBody>
                    <a:bodyPr/>
                    <a:lstStyle/>
                    <a:p>
                      <a:pPr>
                        <a:buNone/>
                      </a:pPr>
                      <a:r>
                        <a:rPr lang="en-US" dirty="0">
                          <a:latin typeface="Times New Roman" panose="02020603050405020304" pitchFamily="18" charset="0"/>
                          <a:cs typeface="Times New Roman" panose="02020603050405020304" pitchFamily="18" charset="0"/>
                        </a:rPr>
                        <a:t>Difficulty in combining spatial and temporal features; limited scalability and dataset diversity</a:t>
                      </a:r>
                    </a:p>
                  </a:txBody>
                  <a:tcPr anchor="ctr"/>
                </a:tc>
                <a:extLst>
                  <a:ext uri="{0D108BD9-81ED-4DB2-BD59-A6C34878D82A}">
                    <a16:rowId xmlns:a16="http://schemas.microsoft.com/office/drawing/2014/main" val="3250676843"/>
                  </a:ext>
                </a:extLst>
              </a:tr>
            </a:tbl>
          </a:graphicData>
        </a:graphic>
      </p:graphicFrame>
    </p:spTree>
    <p:extLst>
      <p:ext uri="{BB962C8B-B14F-4D97-AF65-F5344CB8AC3E}">
        <p14:creationId xmlns:p14="http://schemas.microsoft.com/office/powerpoint/2010/main" val="49369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53DC649-4EF8-BA05-905D-96A3365D6293}"/>
              </a:ext>
            </a:extLst>
          </p:cNvPr>
          <p:cNvGraphicFramePr>
            <a:graphicFrameLocks noGrp="1"/>
          </p:cNvGraphicFramePr>
          <p:nvPr>
            <p:extLst>
              <p:ext uri="{D42A27DB-BD31-4B8C-83A1-F6EECF244321}">
                <p14:modId xmlns:p14="http://schemas.microsoft.com/office/powerpoint/2010/main" val="2468405700"/>
              </p:ext>
            </p:extLst>
          </p:nvPr>
        </p:nvGraphicFramePr>
        <p:xfrm>
          <a:off x="0" y="1"/>
          <a:ext cx="12192000" cy="6962010"/>
        </p:xfrm>
        <a:graphic>
          <a:graphicData uri="http://schemas.openxmlformats.org/drawingml/2006/table">
            <a:tbl>
              <a:tblPr firstRow="1" bandRow="1">
                <a:tableStyleId>{5C22544A-7EE6-4342-B048-85BDC9FD1C3A}</a:tableStyleId>
              </a:tblPr>
              <a:tblGrid>
                <a:gridCol w="768825">
                  <a:extLst>
                    <a:ext uri="{9D8B030D-6E8A-4147-A177-3AD203B41FA5}">
                      <a16:colId xmlns:a16="http://schemas.microsoft.com/office/drawing/2014/main" val="4029534529"/>
                    </a:ext>
                  </a:extLst>
                </a:gridCol>
                <a:gridCol w="2468200">
                  <a:extLst>
                    <a:ext uri="{9D8B030D-6E8A-4147-A177-3AD203B41FA5}">
                      <a16:colId xmlns:a16="http://schemas.microsoft.com/office/drawing/2014/main" val="881383448"/>
                    </a:ext>
                  </a:extLst>
                </a:gridCol>
                <a:gridCol w="1655541">
                  <a:extLst>
                    <a:ext uri="{9D8B030D-6E8A-4147-A177-3AD203B41FA5}">
                      <a16:colId xmlns:a16="http://schemas.microsoft.com/office/drawing/2014/main" val="3464848709"/>
                    </a:ext>
                  </a:extLst>
                </a:gridCol>
                <a:gridCol w="2332810">
                  <a:extLst>
                    <a:ext uri="{9D8B030D-6E8A-4147-A177-3AD203B41FA5}">
                      <a16:colId xmlns:a16="http://schemas.microsoft.com/office/drawing/2014/main" val="725894641"/>
                    </a:ext>
                  </a:extLst>
                </a:gridCol>
                <a:gridCol w="2458228">
                  <a:extLst>
                    <a:ext uri="{9D8B030D-6E8A-4147-A177-3AD203B41FA5}">
                      <a16:colId xmlns:a16="http://schemas.microsoft.com/office/drawing/2014/main" val="2762938025"/>
                    </a:ext>
                  </a:extLst>
                </a:gridCol>
                <a:gridCol w="2508396">
                  <a:extLst>
                    <a:ext uri="{9D8B030D-6E8A-4147-A177-3AD203B41FA5}">
                      <a16:colId xmlns:a16="http://schemas.microsoft.com/office/drawing/2014/main" val="688399161"/>
                    </a:ext>
                  </a:extLst>
                </a:gridCol>
              </a:tblGrid>
              <a:tr h="902245">
                <a:tc>
                  <a:txBody>
                    <a:bodyPr/>
                    <a:lstStyle/>
                    <a:p>
                      <a:pPr>
                        <a:buNone/>
                      </a:pPr>
                      <a:r>
                        <a:rPr lang="en-IN">
                          <a:latin typeface="Times New Roman" panose="02020603050405020304" pitchFamily="18" charset="0"/>
                          <a:cs typeface="Times New Roman" panose="02020603050405020304" pitchFamily="18" charset="0"/>
                        </a:rPr>
                        <a:t>Sl.No</a:t>
                      </a:r>
                    </a:p>
                  </a:txBody>
                  <a:tcPr anchor="ctr"/>
                </a:tc>
                <a:tc>
                  <a:txBody>
                    <a:bodyPr/>
                    <a:lstStyle/>
                    <a:p>
                      <a:pPr>
                        <a:buNone/>
                      </a:pPr>
                      <a:r>
                        <a:rPr lang="en-IN"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a:latin typeface="Times New Roman" panose="02020603050405020304" pitchFamily="18" charset="0"/>
                          <a:cs typeface="Times New Roman" panose="02020603050405020304" pitchFamily="18" charset="0"/>
                        </a:rPr>
                        <a:t>Publication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Authors &amp; Year</a:t>
                      </a:r>
                    </a:p>
                  </a:txBody>
                  <a:tcPr anchor="ctr"/>
                </a:tc>
                <a:tc>
                  <a:txBody>
                    <a:bodyPr/>
                    <a:lstStyle/>
                    <a:p>
                      <a:pPr>
                        <a:buNone/>
                      </a:pPr>
                      <a:r>
                        <a:rPr lang="en-IN">
                          <a:latin typeface="Times New Roman" panose="02020603050405020304" pitchFamily="18" charset="0"/>
                          <a:cs typeface="Times New Roman" panose="02020603050405020304" pitchFamily="18" charset="0"/>
                        </a:rPr>
                        <a:t>Methodology (Tools, Technologies, Framework)</a:t>
                      </a:r>
                    </a:p>
                  </a:txBody>
                  <a:tcPr anchor="ctr"/>
                </a:tc>
                <a:tc>
                  <a:txBody>
                    <a:bodyPr/>
                    <a:lstStyle/>
                    <a:p>
                      <a:pPr>
                        <a:buNone/>
                      </a:pPr>
                      <a:r>
                        <a:rPr lang="en-IN" dirty="0">
                          <a:latin typeface="Times New Roman" panose="02020603050405020304" pitchFamily="18" charset="0"/>
                          <a:cs typeface="Times New Roman" panose="02020603050405020304" pitchFamily="18" charset="0"/>
                        </a:rPr>
                        <a:t>Gaps Identified</a:t>
                      </a:r>
                    </a:p>
                  </a:txBody>
                  <a:tcPr anchor="ctr"/>
                </a:tc>
                <a:extLst>
                  <a:ext uri="{0D108BD9-81ED-4DB2-BD59-A6C34878D82A}">
                    <a16:rowId xmlns:a16="http://schemas.microsoft.com/office/drawing/2014/main" val="1266481181"/>
                  </a:ext>
                </a:extLst>
              </a:tr>
              <a:tr h="1390633">
                <a:tc>
                  <a:txBody>
                    <a:bodyPr/>
                    <a:lstStyle/>
                    <a:p>
                      <a:pPr>
                        <a:buNone/>
                      </a:pPr>
                      <a:r>
                        <a:rPr lang="en-IN" dirty="0">
                          <a:latin typeface="Times New Roman" panose="02020603050405020304" pitchFamily="18" charset="0"/>
                          <a:cs typeface="Times New Roman" panose="02020603050405020304" pitchFamily="18" charset="0"/>
                        </a:rPr>
                        <a:t>3.</a:t>
                      </a:r>
                    </a:p>
                  </a:txBody>
                  <a:tcPr anchor="ctr"/>
                </a:tc>
                <a:tc>
                  <a:txBody>
                    <a:bodyPr/>
                    <a:lstStyle/>
                    <a:p>
                      <a:pPr>
                        <a:buNone/>
                      </a:pPr>
                      <a:r>
                        <a:rPr lang="en-US" dirty="0">
                          <a:latin typeface="Times New Roman" panose="02020603050405020304" pitchFamily="18" charset="0"/>
                          <a:cs typeface="Times New Roman" panose="02020603050405020304" pitchFamily="18" charset="0"/>
                        </a:rPr>
                        <a:t>Security and Surveillance: Human and Suspicious Object Detection Using YOLOv8</a:t>
                      </a:r>
                    </a:p>
                  </a:txBody>
                  <a:tcPr anchor="ctr"/>
                </a:tc>
                <a:tc>
                  <a:txBody>
                    <a:bodyPr/>
                    <a:lstStyle/>
                    <a:p>
                      <a:pPr>
                        <a:buNone/>
                      </a:pPr>
                      <a:r>
                        <a:rPr lang="en-IN" dirty="0">
                          <a:latin typeface="Times New Roman" panose="02020603050405020304" pitchFamily="18" charset="0"/>
                          <a:cs typeface="Times New Roman" panose="02020603050405020304" pitchFamily="18" charset="0"/>
                        </a:rPr>
                        <a:t>IJCRT</a:t>
                      </a:r>
                    </a:p>
                  </a:txBody>
                  <a:tcPr anchor="ctr"/>
                </a:tc>
                <a:tc>
                  <a:txBody>
                    <a:bodyPr/>
                    <a:lstStyle/>
                    <a:p>
                      <a:pPr>
                        <a:buNone/>
                      </a:pPr>
                      <a:r>
                        <a:rPr lang="en-IN" dirty="0">
                          <a:latin typeface="Times New Roman" panose="02020603050405020304" pitchFamily="18" charset="0"/>
                          <a:cs typeface="Times New Roman" panose="02020603050405020304" pitchFamily="18" charset="0"/>
                        </a:rPr>
                        <a:t>Abhishek S. </a:t>
                      </a:r>
                      <a:r>
                        <a:rPr lang="en-IN" dirty="0" err="1">
                          <a:latin typeface="Times New Roman" panose="02020603050405020304" pitchFamily="18" charset="0"/>
                          <a:cs typeface="Times New Roman" panose="02020603050405020304" pitchFamily="18" charset="0"/>
                        </a:rPr>
                        <a:t>Munavalli</a:t>
                      </a:r>
                      <a:r>
                        <a:rPr lang="en-IN" dirty="0">
                          <a:latin typeface="Times New Roman" panose="02020603050405020304" pitchFamily="18" charset="0"/>
                          <a:cs typeface="Times New Roman" panose="02020603050405020304" pitchFamily="18" charset="0"/>
                        </a:rPr>
                        <a:t> et al., 2025</a:t>
                      </a:r>
                    </a:p>
                  </a:txBody>
                  <a:tcPr anchor="ctr"/>
                </a:tc>
                <a:tc>
                  <a:txBody>
                    <a:bodyPr/>
                    <a:lstStyle/>
                    <a:p>
                      <a:pPr>
                        <a:buNone/>
                      </a:pPr>
                      <a:r>
                        <a:rPr lang="en-US" dirty="0">
                          <a:latin typeface="Times New Roman" panose="02020603050405020304" pitchFamily="18" charset="0"/>
                          <a:cs typeface="Times New Roman" panose="02020603050405020304" pitchFamily="18" charset="0"/>
                        </a:rPr>
                        <a:t>YOLOv8 + object tracking + Owner Association algorithm + Flask-based monitoring system</a:t>
                      </a:r>
                    </a:p>
                  </a:txBody>
                  <a:tcPr anchor="ctr"/>
                </a:tc>
                <a:tc>
                  <a:txBody>
                    <a:bodyPr/>
                    <a:lstStyle/>
                    <a:p>
                      <a:pPr>
                        <a:buNone/>
                      </a:pPr>
                      <a:r>
                        <a:rPr lang="en-US" dirty="0">
                          <a:latin typeface="Times New Roman" panose="02020603050405020304" pitchFamily="18" charset="0"/>
                          <a:cs typeface="Times New Roman" panose="02020603050405020304" pitchFamily="18" charset="0"/>
                        </a:rPr>
                        <a:t>Lacks deep behavioral understanding and limited contextual reasoning in complex scenarios</a:t>
                      </a:r>
                    </a:p>
                  </a:txBody>
                  <a:tcPr anchor="ctr"/>
                </a:tc>
                <a:extLst>
                  <a:ext uri="{0D108BD9-81ED-4DB2-BD59-A6C34878D82A}">
                    <a16:rowId xmlns:a16="http://schemas.microsoft.com/office/drawing/2014/main" val="516856496"/>
                  </a:ext>
                </a:extLst>
              </a:tr>
              <a:tr h="1443592">
                <a:tc>
                  <a:txBody>
                    <a:bodyPr/>
                    <a:lstStyle/>
                    <a:p>
                      <a:pPr>
                        <a:buNone/>
                      </a:pPr>
                      <a:r>
                        <a:rPr lang="en-IN" dirty="0">
                          <a:latin typeface="Times New Roman" panose="02020603050405020304" pitchFamily="18" charset="0"/>
                          <a:cs typeface="Times New Roman" panose="02020603050405020304" pitchFamily="18" charset="0"/>
                        </a:rPr>
                        <a:t>4</a:t>
                      </a:r>
                    </a:p>
                  </a:txBody>
                  <a:tcPr anchor="ctr"/>
                </a:tc>
                <a:tc>
                  <a:txBody>
                    <a:bodyPr/>
                    <a:lstStyle/>
                    <a:p>
                      <a:pPr>
                        <a:buNone/>
                      </a:pPr>
                      <a:r>
                        <a:rPr lang="en-US" dirty="0">
                          <a:latin typeface="Times New Roman" panose="02020603050405020304" pitchFamily="18" charset="0"/>
                          <a:cs typeface="Times New Roman" panose="02020603050405020304" pitchFamily="18" charset="0"/>
                        </a:rPr>
                        <a:t>Enhanced Framework for Real-Time Dense Crowd Abnormal Behavior Detection Using YOLOv8</a:t>
                      </a:r>
                    </a:p>
                  </a:txBody>
                  <a:tcPr anchor="ctr"/>
                </a:tc>
                <a:tc>
                  <a:txBody>
                    <a:bodyPr/>
                    <a:lstStyle/>
                    <a:p>
                      <a:pPr>
                        <a:buNone/>
                      </a:pPr>
                      <a:r>
                        <a:rPr lang="en-IN" dirty="0">
                          <a:latin typeface="Times New Roman" panose="02020603050405020304" pitchFamily="18" charset="0"/>
                          <a:cs typeface="Times New Roman" panose="02020603050405020304" pitchFamily="18" charset="0"/>
                        </a:rPr>
                        <a:t>Artificial Intelligence Review</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Rabia Nasir et al., 2025</a:t>
                      </a:r>
                    </a:p>
                  </a:txBody>
                  <a:tcPr anchor="ctr"/>
                </a:tc>
                <a:tc>
                  <a:txBody>
                    <a:bodyPr/>
                    <a:lstStyle/>
                    <a:p>
                      <a:pPr>
                        <a:buNone/>
                      </a:pPr>
                      <a:r>
                        <a:rPr lang="en-US" dirty="0">
                          <a:latin typeface="Times New Roman" panose="02020603050405020304" pitchFamily="18" charset="0"/>
                          <a:cs typeface="Times New Roman" panose="02020603050405020304" pitchFamily="18" charset="0"/>
                        </a:rPr>
                        <a:t>YOLOv8 with Soft-NMS, evaluated on Hajjv2 dataset for crowd anomaly detection</a:t>
                      </a:r>
                    </a:p>
                  </a:txBody>
                  <a:tcPr anchor="ctr"/>
                </a:tc>
                <a:tc>
                  <a:txBody>
                    <a:bodyPr/>
                    <a:lstStyle/>
                    <a:p>
                      <a:pPr>
                        <a:buNone/>
                      </a:pPr>
                      <a:r>
                        <a:rPr lang="en-US" dirty="0">
                          <a:latin typeface="Times New Roman" panose="02020603050405020304" pitchFamily="18" charset="0"/>
                          <a:cs typeface="Times New Roman" panose="02020603050405020304" pitchFamily="18" charset="0"/>
                        </a:rPr>
                        <a:t>Challenges like occlusion, illumination variation, and high false positives in dense crowds</a:t>
                      </a:r>
                    </a:p>
                  </a:txBody>
                  <a:tcPr anchor="ctr"/>
                </a:tc>
                <a:extLst>
                  <a:ext uri="{0D108BD9-81ED-4DB2-BD59-A6C34878D82A}">
                    <a16:rowId xmlns:a16="http://schemas.microsoft.com/office/drawing/2014/main" val="3079044440"/>
                  </a:ext>
                </a:extLst>
              </a:tr>
              <a:tr h="1560765">
                <a:tc>
                  <a:txBody>
                    <a:bodyPr/>
                    <a:lstStyle/>
                    <a:p>
                      <a:pPr>
                        <a:buNone/>
                      </a:pPr>
                      <a:r>
                        <a:rPr lang="en-IN" dirty="0">
                          <a:latin typeface="Times New Roman" panose="02020603050405020304" pitchFamily="18" charset="0"/>
                          <a:cs typeface="Times New Roman" panose="02020603050405020304" pitchFamily="18" charset="0"/>
                        </a:rPr>
                        <a:t>5</a:t>
                      </a:r>
                    </a:p>
                  </a:txBody>
                  <a:tcPr anchor="ctr"/>
                </a:tc>
                <a:tc>
                  <a:txBody>
                    <a:bodyPr/>
                    <a:lstStyle/>
                    <a:p>
                      <a:pPr>
                        <a:buNone/>
                      </a:pPr>
                      <a:r>
                        <a:rPr lang="en-US" dirty="0">
                          <a:latin typeface="Times New Roman" panose="02020603050405020304" pitchFamily="18" charset="0"/>
                          <a:cs typeface="Times New Roman" panose="02020603050405020304" pitchFamily="18" charset="0"/>
                        </a:rPr>
                        <a:t>Smart Surveillance Systems Using YOLOv8: A Scalable Approach</a:t>
                      </a:r>
                    </a:p>
                  </a:txBody>
                  <a:tcPr anchor="ctr"/>
                </a:tc>
                <a:tc>
                  <a:txBody>
                    <a:bodyPr/>
                    <a:lstStyle/>
                    <a:p>
                      <a:pPr>
                        <a:buNone/>
                      </a:pPr>
                      <a:r>
                        <a:rPr lang="en-IN" dirty="0">
                          <a:latin typeface="Times New Roman" panose="02020603050405020304" pitchFamily="18" charset="0"/>
                          <a:cs typeface="Times New Roman" panose="02020603050405020304" pitchFamily="18" charset="0"/>
                        </a:rPr>
                        <a:t>IJRAET</a:t>
                      </a:r>
                    </a:p>
                  </a:txBody>
                  <a:tcPr anchor="ctr"/>
                </a:tc>
                <a:tc>
                  <a:txBody>
                    <a:bodyPr/>
                    <a:lstStyle/>
                    <a:p>
                      <a:pPr>
                        <a:buNone/>
                      </a:pPr>
                      <a:r>
                        <a:rPr lang="en-IN" dirty="0">
                          <a:latin typeface="Times New Roman" panose="02020603050405020304" pitchFamily="18" charset="0"/>
                          <a:cs typeface="Times New Roman" panose="02020603050405020304" pitchFamily="18" charset="0"/>
                        </a:rPr>
                        <a:t>P. Siva et al., 2025</a:t>
                      </a:r>
                    </a:p>
                  </a:txBody>
                  <a:tcPr anchor="ctr"/>
                </a:tc>
                <a:tc>
                  <a:txBody>
                    <a:bodyPr/>
                    <a:lstStyle/>
                    <a:p>
                      <a:pPr>
                        <a:buNone/>
                      </a:pPr>
                      <a:r>
                        <a:rPr lang="en-US" dirty="0">
                          <a:latin typeface="Times New Roman" panose="02020603050405020304" pitchFamily="18" charset="0"/>
                          <a:cs typeface="Times New Roman" panose="02020603050405020304" pitchFamily="18" charset="0"/>
                        </a:rPr>
                        <a:t>YOLOv8 + CNN + LSTM for real-time crowd monitoring and anomaly detection</a:t>
                      </a:r>
                    </a:p>
                  </a:txBody>
                  <a:tcPr anchor="ctr"/>
                </a:tc>
                <a:tc>
                  <a:txBody>
                    <a:bodyPr/>
                    <a:lstStyle/>
                    <a:p>
                      <a:pPr>
                        <a:buNone/>
                      </a:pPr>
                      <a:r>
                        <a:rPr lang="en-US" dirty="0">
                          <a:latin typeface="Times New Roman" panose="02020603050405020304" pitchFamily="18" charset="0"/>
                          <a:cs typeface="Times New Roman" panose="02020603050405020304" pitchFamily="18" charset="0"/>
                        </a:rPr>
                        <a:t>High computational cost and dependency on large datasets; edge deployment challenges</a:t>
                      </a:r>
                    </a:p>
                  </a:txBody>
                  <a:tcPr anchor="ctr"/>
                </a:tc>
                <a:extLst>
                  <a:ext uri="{0D108BD9-81ED-4DB2-BD59-A6C34878D82A}">
                    <a16:rowId xmlns:a16="http://schemas.microsoft.com/office/drawing/2014/main" val="3484299200"/>
                  </a:ext>
                </a:extLst>
              </a:tr>
              <a:tr h="1560765">
                <a:tc>
                  <a:txBody>
                    <a:bodyPr/>
                    <a:lstStyle/>
                    <a:p>
                      <a:pPr>
                        <a:buNone/>
                      </a:pPr>
                      <a:r>
                        <a:rPr lang="en-IN" dirty="0">
                          <a:latin typeface="Times New Roman" panose="02020603050405020304" pitchFamily="18" charset="0"/>
                          <a:cs typeface="Times New Roman" panose="02020603050405020304" pitchFamily="18" charset="0"/>
                        </a:rPr>
                        <a:t>6</a:t>
                      </a:r>
                    </a:p>
                  </a:txBody>
                  <a:tcPr anchor="ctr"/>
                </a:tc>
                <a:tc>
                  <a:txBody>
                    <a:bodyPr/>
                    <a:lstStyle/>
                    <a:p>
                      <a:pPr>
                        <a:buNone/>
                      </a:pPr>
                      <a:r>
                        <a:rPr lang="en-US" dirty="0">
                          <a:latin typeface="Times New Roman" panose="02020603050405020304" pitchFamily="18" charset="0"/>
                          <a:cs typeface="Times New Roman" panose="02020603050405020304" pitchFamily="18" charset="0"/>
                        </a:rPr>
                        <a:t>AI-Driven Cognitive Surveillance Framework for Suspicious Activity Detection</a:t>
                      </a:r>
                    </a:p>
                  </a:txBody>
                  <a:tcPr anchor="ctr"/>
                </a:tc>
                <a:tc>
                  <a:txBody>
                    <a:bodyPr/>
                    <a:lstStyle/>
                    <a:p>
                      <a:pPr>
                        <a:buNone/>
                      </a:pPr>
                      <a:r>
                        <a:rPr lang="en-US">
                          <a:latin typeface="Times New Roman" panose="02020603050405020304" pitchFamily="18" charset="0"/>
                          <a:cs typeface="Times New Roman" panose="02020603050405020304" pitchFamily="18" charset="0"/>
                        </a:rPr>
                        <a:t>Advances in Science and Technology Research Journal</a:t>
                      </a:r>
                    </a:p>
                  </a:txBody>
                  <a:tcPr anchor="ctr"/>
                </a:tc>
                <a:tc>
                  <a:txBody>
                    <a:bodyPr/>
                    <a:lstStyle/>
                    <a:p>
                      <a:pPr>
                        <a:buNone/>
                      </a:pPr>
                      <a:r>
                        <a:rPr lang="da-DK">
                          <a:latin typeface="Times New Roman" panose="02020603050405020304" pitchFamily="18" charset="0"/>
                          <a:cs typeface="Times New Roman" panose="02020603050405020304" pitchFamily="18" charset="0"/>
                        </a:rPr>
                        <a:t>Asad Hameed Soomro et al., 2025</a:t>
                      </a:r>
                    </a:p>
                  </a:txBody>
                  <a:tcPr anchor="ctr"/>
                </a:tc>
                <a:tc>
                  <a:txBody>
                    <a:bodyPr/>
                    <a:lstStyle/>
                    <a:p>
                      <a:pPr>
                        <a:buNone/>
                      </a:pPr>
                      <a:r>
                        <a:rPr lang="en-IN">
                          <a:latin typeface="Times New Roman" panose="02020603050405020304" pitchFamily="18" charset="0"/>
                          <a:cs typeface="Times New Roman" panose="02020603050405020304" pitchFamily="18" charset="0"/>
                        </a:rPr>
                        <a:t>HYDPL algorithm (YOLO + DenseNet + pseudo-labeling) with multi-stage processing</a:t>
                      </a:r>
                    </a:p>
                  </a:txBody>
                  <a:tcPr anchor="ctr"/>
                </a:tc>
                <a:tc>
                  <a:txBody>
                    <a:bodyPr/>
                    <a:lstStyle/>
                    <a:p>
                      <a:pPr>
                        <a:buNone/>
                      </a:pPr>
                      <a:r>
                        <a:rPr lang="en-US" dirty="0">
                          <a:latin typeface="Times New Roman" panose="02020603050405020304" pitchFamily="18" charset="0"/>
                          <a:cs typeface="Times New Roman" panose="02020603050405020304" pitchFamily="18" charset="0"/>
                        </a:rPr>
                        <a:t>Limited dataset scope (academic environment only); lacks generalization</a:t>
                      </a:r>
                    </a:p>
                  </a:txBody>
                  <a:tcPr anchor="ctr"/>
                </a:tc>
                <a:extLst>
                  <a:ext uri="{0D108BD9-81ED-4DB2-BD59-A6C34878D82A}">
                    <a16:rowId xmlns:a16="http://schemas.microsoft.com/office/drawing/2014/main" val="4149952954"/>
                  </a:ext>
                </a:extLst>
              </a:tr>
            </a:tbl>
          </a:graphicData>
        </a:graphic>
      </p:graphicFrame>
    </p:spTree>
    <p:extLst>
      <p:ext uri="{BB962C8B-B14F-4D97-AF65-F5344CB8AC3E}">
        <p14:creationId xmlns:p14="http://schemas.microsoft.com/office/powerpoint/2010/main" val="4024567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62772-F4EF-0CBF-1F99-575D68EDF3AA}"/>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7B1FED5-AC92-D3D9-34AD-29A5B6272287}"/>
              </a:ext>
            </a:extLst>
          </p:cNvPr>
          <p:cNvGraphicFramePr>
            <a:graphicFrameLocks noGrp="1"/>
          </p:cNvGraphicFramePr>
          <p:nvPr>
            <p:extLst>
              <p:ext uri="{D42A27DB-BD31-4B8C-83A1-F6EECF244321}">
                <p14:modId xmlns:p14="http://schemas.microsoft.com/office/powerpoint/2010/main" val="1541801679"/>
              </p:ext>
            </p:extLst>
          </p:nvPr>
        </p:nvGraphicFramePr>
        <p:xfrm>
          <a:off x="0" y="0"/>
          <a:ext cx="12164327" cy="6858000"/>
        </p:xfrm>
        <a:graphic>
          <a:graphicData uri="http://schemas.openxmlformats.org/drawingml/2006/table">
            <a:tbl>
              <a:tblPr firstRow="1" bandRow="1">
                <a:tableStyleId>{5C22544A-7EE6-4342-B048-85BDC9FD1C3A}</a:tableStyleId>
              </a:tblPr>
              <a:tblGrid>
                <a:gridCol w="767080">
                  <a:extLst>
                    <a:ext uri="{9D8B030D-6E8A-4147-A177-3AD203B41FA5}">
                      <a16:colId xmlns:a16="http://schemas.microsoft.com/office/drawing/2014/main" val="4029534529"/>
                    </a:ext>
                  </a:extLst>
                </a:gridCol>
                <a:gridCol w="2462597">
                  <a:extLst>
                    <a:ext uri="{9D8B030D-6E8A-4147-A177-3AD203B41FA5}">
                      <a16:colId xmlns:a16="http://schemas.microsoft.com/office/drawing/2014/main" val="881383448"/>
                    </a:ext>
                  </a:extLst>
                </a:gridCol>
                <a:gridCol w="1651784">
                  <a:extLst>
                    <a:ext uri="{9D8B030D-6E8A-4147-A177-3AD203B41FA5}">
                      <a16:colId xmlns:a16="http://schemas.microsoft.com/office/drawing/2014/main" val="3464848709"/>
                    </a:ext>
                  </a:extLst>
                </a:gridCol>
                <a:gridCol w="2327515">
                  <a:extLst>
                    <a:ext uri="{9D8B030D-6E8A-4147-A177-3AD203B41FA5}">
                      <a16:colId xmlns:a16="http://schemas.microsoft.com/office/drawing/2014/main" val="725894641"/>
                    </a:ext>
                  </a:extLst>
                </a:gridCol>
                <a:gridCol w="2452649">
                  <a:extLst>
                    <a:ext uri="{9D8B030D-6E8A-4147-A177-3AD203B41FA5}">
                      <a16:colId xmlns:a16="http://schemas.microsoft.com/office/drawing/2014/main" val="2762938025"/>
                    </a:ext>
                  </a:extLst>
                </a:gridCol>
                <a:gridCol w="2502702">
                  <a:extLst>
                    <a:ext uri="{9D8B030D-6E8A-4147-A177-3AD203B41FA5}">
                      <a16:colId xmlns:a16="http://schemas.microsoft.com/office/drawing/2014/main" val="688399161"/>
                    </a:ext>
                  </a:extLst>
                </a:gridCol>
              </a:tblGrid>
              <a:tr h="926735">
                <a:tc>
                  <a:txBody>
                    <a:bodyPr/>
                    <a:lstStyle/>
                    <a:p>
                      <a:pPr>
                        <a:buNone/>
                      </a:pPr>
                      <a:r>
                        <a:rPr lang="en-IN">
                          <a:latin typeface="Times New Roman" panose="02020603050405020304" pitchFamily="18" charset="0"/>
                          <a:cs typeface="Times New Roman" panose="02020603050405020304" pitchFamily="18" charset="0"/>
                        </a:rPr>
                        <a:t>Sl.No</a:t>
                      </a:r>
                    </a:p>
                  </a:txBody>
                  <a:tcPr anchor="ctr"/>
                </a:tc>
                <a:tc>
                  <a:txBody>
                    <a:bodyPr/>
                    <a:lstStyle/>
                    <a:p>
                      <a:pPr>
                        <a:buNone/>
                      </a:pPr>
                      <a:r>
                        <a:rPr lang="en-IN"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dirty="0">
                          <a:latin typeface="Times New Roman" panose="02020603050405020304" pitchFamily="18" charset="0"/>
                          <a:cs typeface="Times New Roman" panose="02020603050405020304" pitchFamily="18" charset="0"/>
                        </a:rPr>
                        <a:t>Publication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Authors &amp; Year</a:t>
                      </a:r>
                    </a:p>
                  </a:txBody>
                  <a:tcPr anchor="ctr"/>
                </a:tc>
                <a:tc>
                  <a:txBody>
                    <a:bodyPr/>
                    <a:lstStyle/>
                    <a:p>
                      <a:pPr>
                        <a:buNone/>
                      </a:pPr>
                      <a:r>
                        <a:rPr lang="en-IN">
                          <a:latin typeface="Times New Roman" panose="02020603050405020304" pitchFamily="18" charset="0"/>
                          <a:cs typeface="Times New Roman" panose="02020603050405020304" pitchFamily="18" charset="0"/>
                        </a:rPr>
                        <a:t>Methodology (Tools, Technologies, Framework)</a:t>
                      </a:r>
                    </a:p>
                  </a:txBody>
                  <a:tcPr anchor="ctr"/>
                </a:tc>
                <a:tc>
                  <a:txBody>
                    <a:bodyPr/>
                    <a:lstStyle/>
                    <a:p>
                      <a:pPr>
                        <a:buNone/>
                      </a:pPr>
                      <a:r>
                        <a:rPr lang="en-IN" dirty="0">
                          <a:latin typeface="Times New Roman" panose="02020603050405020304" pitchFamily="18" charset="0"/>
                          <a:cs typeface="Times New Roman" panose="02020603050405020304" pitchFamily="18" charset="0"/>
                        </a:rPr>
                        <a:t>Gaps Identified</a:t>
                      </a:r>
                    </a:p>
                  </a:txBody>
                  <a:tcPr anchor="ctr"/>
                </a:tc>
                <a:extLst>
                  <a:ext uri="{0D108BD9-81ED-4DB2-BD59-A6C34878D82A}">
                    <a16:rowId xmlns:a16="http://schemas.microsoft.com/office/drawing/2014/main" val="1266481181"/>
                  </a:ext>
                </a:extLst>
              </a:tr>
              <a:tr h="1343846">
                <a:tc>
                  <a:txBody>
                    <a:bodyPr/>
                    <a:lstStyle/>
                    <a:p>
                      <a:pPr>
                        <a:buNone/>
                      </a:pPr>
                      <a:r>
                        <a:rPr lang="en-IN" dirty="0">
                          <a:latin typeface="Times New Roman" panose="02020603050405020304" pitchFamily="18" charset="0"/>
                          <a:cs typeface="Times New Roman" panose="02020603050405020304" pitchFamily="18" charset="0"/>
                        </a:rPr>
                        <a:t>7.</a:t>
                      </a:r>
                    </a:p>
                  </a:txBody>
                  <a:tcPr anchor="ctr"/>
                </a:tc>
                <a:tc>
                  <a:txBody>
                    <a:bodyPr/>
                    <a:lstStyle/>
                    <a:p>
                      <a:pPr>
                        <a:buNone/>
                      </a:pPr>
                      <a:r>
                        <a:rPr lang="en-US">
                          <a:latin typeface="Times New Roman" panose="02020603050405020304" pitchFamily="18" charset="0"/>
                          <a:cs typeface="Times New Roman" panose="02020603050405020304" pitchFamily="18" charset="0"/>
                        </a:rPr>
                        <a:t>Real-Time Intelligent Surveillance System Using YOLOv8 and DeepFace</a:t>
                      </a:r>
                    </a:p>
                  </a:txBody>
                  <a:tcPr anchor="ctr"/>
                </a:tc>
                <a:tc>
                  <a:txBody>
                    <a:bodyPr/>
                    <a:lstStyle/>
                    <a:p>
                      <a:pPr>
                        <a:buNone/>
                      </a:pPr>
                      <a:r>
                        <a:rPr lang="en-IN">
                          <a:latin typeface="Times New Roman" panose="02020603050405020304" pitchFamily="18" charset="0"/>
                          <a:cs typeface="Times New Roman" panose="02020603050405020304" pitchFamily="18" charset="0"/>
                        </a:rPr>
                        <a:t>MDPI Eng. Proc.</a:t>
                      </a:r>
                    </a:p>
                  </a:txBody>
                  <a:tcPr anchor="ctr"/>
                </a:tc>
                <a:tc>
                  <a:txBody>
                    <a:bodyPr/>
                    <a:lstStyle/>
                    <a:p>
                      <a:pPr>
                        <a:buNone/>
                      </a:pPr>
                      <a:r>
                        <a:rPr lang="da-DK" dirty="0">
                          <a:latin typeface="Times New Roman" panose="02020603050405020304" pitchFamily="18" charset="0"/>
                          <a:cs typeface="Times New Roman" panose="02020603050405020304" pitchFamily="18" charset="0"/>
                        </a:rPr>
                        <a:t>Uswa Ihsan et al., 2025</a:t>
                      </a:r>
                    </a:p>
                  </a:txBody>
                  <a:tcPr anchor="ctr"/>
                </a:tc>
                <a:tc>
                  <a:txBody>
                    <a:bodyPr/>
                    <a:lstStyle/>
                    <a:p>
                      <a:pPr>
                        <a:buNone/>
                      </a:pPr>
                      <a:r>
                        <a:rPr lang="en-US">
                          <a:latin typeface="Times New Roman" panose="02020603050405020304" pitchFamily="18" charset="0"/>
                          <a:cs typeface="Times New Roman" panose="02020603050405020304" pitchFamily="18" charset="0"/>
                        </a:rPr>
                        <a:t>YOLOv8 + DeepFace for object detection and emotion recognition</a:t>
                      </a:r>
                    </a:p>
                  </a:txBody>
                  <a:tcPr anchor="ctr"/>
                </a:tc>
                <a:tc>
                  <a:txBody>
                    <a:bodyPr/>
                    <a:lstStyle/>
                    <a:p>
                      <a:pPr>
                        <a:buNone/>
                      </a:pPr>
                      <a:r>
                        <a:rPr lang="en-US">
                          <a:latin typeface="Times New Roman" panose="02020603050405020304" pitchFamily="18" charset="0"/>
                          <a:cs typeface="Times New Roman" panose="02020603050405020304" pitchFamily="18" charset="0"/>
                        </a:rPr>
                        <a:t>Issues with misclassification, dataset bias, and limited explainability</a:t>
                      </a:r>
                    </a:p>
                  </a:txBody>
                  <a:tcPr anchor="ctr"/>
                </a:tc>
                <a:extLst>
                  <a:ext uri="{0D108BD9-81ED-4DB2-BD59-A6C34878D82A}">
                    <a16:rowId xmlns:a16="http://schemas.microsoft.com/office/drawing/2014/main" val="4076682085"/>
                  </a:ext>
                </a:extLst>
              </a:tr>
              <a:tr h="1343846">
                <a:tc>
                  <a:txBody>
                    <a:bodyPr/>
                    <a:lstStyle/>
                    <a:p>
                      <a:pPr>
                        <a:buNone/>
                      </a:pPr>
                      <a:r>
                        <a:rPr lang="en-IN" dirty="0">
                          <a:latin typeface="Times New Roman" panose="02020603050405020304" pitchFamily="18" charset="0"/>
                          <a:cs typeface="Times New Roman" panose="02020603050405020304" pitchFamily="18" charset="0"/>
                        </a:rPr>
                        <a:t>8.</a:t>
                      </a:r>
                    </a:p>
                  </a:txBody>
                  <a:tcPr anchor="ctr"/>
                </a:tc>
                <a:tc>
                  <a:txBody>
                    <a:bodyPr/>
                    <a:lstStyle/>
                    <a:p>
                      <a:pPr>
                        <a:buNone/>
                      </a:pPr>
                      <a:r>
                        <a:rPr lang="en-US">
                          <a:latin typeface="Times New Roman" panose="02020603050405020304" pitchFamily="18" charset="0"/>
                          <a:cs typeface="Times New Roman" panose="02020603050405020304" pitchFamily="18" charset="0"/>
                        </a:rPr>
                        <a:t>Improving Public Safety Through AI-Driven CCTV Surveillance Systems</a:t>
                      </a:r>
                    </a:p>
                  </a:txBody>
                  <a:tcPr anchor="ctr"/>
                </a:tc>
                <a:tc>
                  <a:txBody>
                    <a:bodyPr/>
                    <a:lstStyle/>
                    <a:p>
                      <a:pPr>
                        <a:buNone/>
                      </a:pPr>
                      <a:r>
                        <a:rPr lang="en-IN">
                          <a:latin typeface="Times New Roman" panose="02020603050405020304" pitchFamily="18" charset="0"/>
                          <a:cs typeface="Times New Roman" panose="02020603050405020304" pitchFamily="18" charset="0"/>
                        </a:rPr>
                        <a:t>IJPREMS</a:t>
                      </a:r>
                    </a:p>
                  </a:txBody>
                  <a:tcPr anchor="ctr"/>
                </a:tc>
                <a:tc>
                  <a:txBody>
                    <a:bodyPr/>
                    <a:lstStyle/>
                    <a:p>
                      <a:pPr>
                        <a:buNone/>
                      </a:pPr>
                      <a:r>
                        <a:rPr lang="fi-FI" dirty="0">
                          <a:latin typeface="Times New Roman" panose="02020603050405020304" pitchFamily="18" charset="0"/>
                          <a:cs typeface="Times New Roman" panose="02020603050405020304" pitchFamily="18" charset="0"/>
                        </a:rPr>
                        <a:t>Aileni Eenaja et al., 2025</a:t>
                      </a:r>
                    </a:p>
                  </a:txBody>
                  <a:tcPr anchor="ctr"/>
                </a:tc>
                <a:tc>
                  <a:txBody>
                    <a:bodyPr/>
                    <a:lstStyle/>
                    <a:p>
                      <a:pPr>
                        <a:buNone/>
                      </a:pPr>
                      <a:r>
                        <a:rPr lang="en-US" dirty="0">
                          <a:latin typeface="Times New Roman" panose="02020603050405020304" pitchFamily="18" charset="0"/>
                          <a:cs typeface="Times New Roman" panose="02020603050405020304" pitchFamily="18" charset="0"/>
                        </a:rPr>
                        <a:t>YOLOv8 + ML-based anomaly detection + real-time alert system</a:t>
                      </a:r>
                    </a:p>
                  </a:txBody>
                  <a:tcPr anchor="ctr"/>
                </a:tc>
                <a:tc>
                  <a:txBody>
                    <a:bodyPr/>
                    <a:lstStyle/>
                    <a:p>
                      <a:pPr>
                        <a:buNone/>
                      </a:pPr>
                      <a:r>
                        <a:rPr lang="en-US" dirty="0">
                          <a:latin typeface="Times New Roman" panose="02020603050405020304" pitchFamily="18" charset="0"/>
                          <a:cs typeface="Times New Roman" panose="02020603050405020304" pitchFamily="18" charset="0"/>
                        </a:rPr>
                        <a:t>High false positives and limited adaptability in dynamic environments</a:t>
                      </a:r>
                    </a:p>
                  </a:txBody>
                  <a:tcPr anchor="ctr"/>
                </a:tc>
                <a:extLst>
                  <a:ext uri="{0D108BD9-81ED-4DB2-BD59-A6C34878D82A}">
                    <a16:rowId xmlns:a16="http://schemas.microsoft.com/office/drawing/2014/main" val="1876544711"/>
                  </a:ext>
                </a:extLst>
              </a:tr>
              <a:tr h="1760797">
                <a:tc>
                  <a:txBody>
                    <a:bodyPr/>
                    <a:lstStyle/>
                    <a:p>
                      <a:pPr>
                        <a:buNone/>
                      </a:pPr>
                      <a:r>
                        <a:rPr lang="en-IN" dirty="0"/>
                        <a:t>9.</a:t>
                      </a:r>
                    </a:p>
                  </a:txBody>
                  <a:tcPr anchor="ctr"/>
                </a:tc>
                <a:tc>
                  <a:txBody>
                    <a:bodyPr/>
                    <a:lstStyle/>
                    <a:p>
                      <a:pPr>
                        <a:buNone/>
                      </a:pPr>
                      <a:r>
                        <a:rPr lang="en-IN" dirty="0">
                          <a:latin typeface="Times New Roman" panose="02020603050405020304" pitchFamily="18" charset="0"/>
                          <a:cs typeface="Times New Roman" panose="02020603050405020304" pitchFamily="18" charset="0"/>
                        </a:rPr>
                        <a:t>Smart AI </a:t>
                      </a:r>
                      <a:r>
                        <a:rPr lang="en-IN" dirty="0" err="1">
                          <a:latin typeface="Times New Roman" panose="02020603050405020304" pitchFamily="18" charset="0"/>
                          <a:cs typeface="Times New Roman" panose="02020603050405020304" pitchFamily="18" charset="0"/>
                        </a:rPr>
                        <a:t>Surveilance</a:t>
                      </a:r>
                      <a:r>
                        <a:rPr lang="en-IN" dirty="0">
                          <a:latin typeface="Times New Roman" panose="02020603050405020304" pitchFamily="18" charset="0"/>
                          <a:cs typeface="Times New Roman" panose="02020603050405020304" pitchFamily="18" charset="0"/>
                        </a:rPr>
                        <a:t> for Crowd and Threat Detection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IJRAET</a:t>
                      </a:r>
                    </a:p>
                  </a:txBody>
                  <a:tcPr anchor="ctr"/>
                </a:tc>
                <a:tc>
                  <a:txBody>
                    <a:bodyPr/>
                    <a:lstStyle/>
                    <a:p>
                      <a:pPr>
                        <a:buNone/>
                      </a:pPr>
                      <a:r>
                        <a:rPr lang="en-IN" dirty="0">
                          <a:latin typeface="Times New Roman" panose="02020603050405020304" pitchFamily="18" charset="0"/>
                          <a:cs typeface="Times New Roman" panose="02020603050405020304" pitchFamily="18" charset="0"/>
                        </a:rPr>
                        <a:t>Multiple Authors,2025</a:t>
                      </a:r>
                    </a:p>
                  </a:txBody>
                  <a:tcPr anchor="ctr"/>
                </a:tc>
                <a:tc>
                  <a:txBody>
                    <a:bodyPr/>
                    <a:lstStyle/>
                    <a:p>
                      <a:pPr>
                        <a:buNone/>
                      </a:pPr>
                      <a:r>
                        <a:rPr lang="en-US" dirty="0">
                          <a:latin typeface="Times New Roman" panose="02020603050405020304" pitchFamily="18" charset="0"/>
                          <a:cs typeface="Times New Roman" panose="02020603050405020304" pitchFamily="18" charset="0"/>
                        </a:rPr>
                        <a:t>YOLOv8 + deep learning + behavioral analysis + real-time monitoring dashboards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Requires high computational resources and lacks robustness in real-world noisy data</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13707044"/>
                  </a:ext>
                </a:extLst>
              </a:tr>
              <a:tr h="1482776">
                <a:tc>
                  <a:txBody>
                    <a:bodyPr/>
                    <a:lstStyle/>
                    <a:p>
                      <a:pPr>
                        <a:buNone/>
                      </a:pPr>
                      <a:r>
                        <a:rPr lang="en-IN" dirty="0">
                          <a:latin typeface="Times New Roman" panose="02020603050405020304" pitchFamily="18" charset="0"/>
                          <a:cs typeface="Times New Roman" panose="02020603050405020304" pitchFamily="18" charset="0"/>
                        </a:rPr>
                        <a:t>10.</a:t>
                      </a:r>
                    </a:p>
                  </a:txBody>
                  <a:tcPr anchor="ctr"/>
                </a:tc>
                <a:tc>
                  <a:txBody>
                    <a:bodyPr/>
                    <a:lstStyle/>
                    <a:p>
                      <a:pPr>
                        <a:buNone/>
                      </a:pPr>
                      <a:r>
                        <a:rPr lang="en-US" dirty="0">
                          <a:latin typeface="Times New Roman" panose="02020603050405020304" pitchFamily="18" charset="0"/>
                          <a:cs typeface="Times New Roman" panose="02020603050405020304" pitchFamily="18" charset="0"/>
                        </a:rPr>
                        <a:t>AI-Based Military Intrusion Detection System Using YOLOv8</a:t>
                      </a:r>
                    </a:p>
                  </a:txBody>
                  <a:tcPr anchor="ctr"/>
                </a:tc>
                <a:tc>
                  <a:txBody>
                    <a:bodyPr/>
                    <a:lstStyle/>
                    <a:p>
                      <a:pPr>
                        <a:buNone/>
                      </a:pPr>
                      <a:r>
                        <a:rPr lang="en-IN">
                          <a:latin typeface="Times New Roman" panose="02020603050405020304" pitchFamily="18" charset="0"/>
                          <a:cs typeface="Times New Roman" panose="02020603050405020304" pitchFamily="18" charset="0"/>
                        </a:rPr>
                        <a:t>IJSCI</a:t>
                      </a:r>
                    </a:p>
                  </a:txBody>
                  <a:tcPr anchor="ctr"/>
                </a:tc>
                <a:tc>
                  <a:txBody>
                    <a:bodyPr/>
                    <a:lstStyle/>
                    <a:p>
                      <a:pPr>
                        <a:buNone/>
                      </a:pPr>
                      <a:r>
                        <a:rPr lang="it-IT" dirty="0">
                          <a:latin typeface="Times New Roman" panose="02020603050405020304" pitchFamily="18" charset="0"/>
                          <a:cs typeface="Times New Roman" panose="02020603050405020304" pitchFamily="18" charset="0"/>
                        </a:rPr>
                        <a:t>V. Monica et al., 2026</a:t>
                      </a:r>
                    </a:p>
                  </a:txBody>
                  <a:tcPr anchor="ctr"/>
                </a:tc>
                <a:tc>
                  <a:txBody>
                    <a:bodyPr/>
                    <a:lstStyle/>
                    <a:p>
                      <a:pPr>
                        <a:buNone/>
                      </a:pPr>
                      <a:r>
                        <a:rPr lang="en-US">
                          <a:latin typeface="Times New Roman" panose="02020603050405020304" pitchFamily="18" charset="0"/>
                          <a:cs typeface="Times New Roman" panose="02020603050405020304" pitchFamily="18" charset="0"/>
                        </a:rPr>
                        <a:t>YOLOv8 with polygon-based boundary detection + alert system (alarm, logs, video capture)</a:t>
                      </a:r>
                    </a:p>
                  </a:txBody>
                  <a:tcPr anchor="ctr"/>
                </a:tc>
                <a:tc>
                  <a:txBody>
                    <a:bodyPr/>
                    <a:lstStyle/>
                    <a:p>
                      <a:pPr>
                        <a:buNone/>
                      </a:pPr>
                      <a:r>
                        <a:rPr lang="en-US" dirty="0">
                          <a:latin typeface="Times New Roman" panose="02020603050405020304" pitchFamily="18" charset="0"/>
                          <a:cs typeface="Times New Roman" panose="02020603050405020304" pitchFamily="18" charset="0"/>
                        </a:rPr>
                        <a:t>Focused only on intrusion detection; lacks behavior classification and anomaly diversity</a:t>
                      </a:r>
                    </a:p>
                  </a:txBody>
                  <a:tcPr anchor="ctr"/>
                </a:tc>
                <a:extLst>
                  <a:ext uri="{0D108BD9-81ED-4DB2-BD59-A6C34878D82A}">
                    <a16:rowId xmlns:a16="http://schemas.microsoft.com/office/drawing/2014/main" val="3115939014"/>
                  </a:ext>
                </a:extLst>
              </a:tr>
            </a:tbl>
          </a:graphicData>
        </a:graphic>
      </p:graphicFrame>
    </p:spTree>
    <p:extLst>
      <p:ext uri="{BB962C8B-B14F-4D97-AF65-F5344CB8AC3E}">
        <p14:creationId xmlns:p14="http://schemas.microsoft.com/office/powerpoint/2010/main" val="2131128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9137E-374D-51FD-8EBA-D683E7E45CB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 :</a:t>
            </a:r>
          </a:p>
        </p:txBody>
      </p:sp>
      <p:sp>
        <p:nvSpPr>
          <p:cNvPr id="5" name="TextBox 4">
            <a:extLst>
              <a:ext uri="{FF2B5EF4-FFF2-40B4-BE49-F238E27FC236}">
                <a16:creationId xmlns:a16="http://schemas.microsoft.com/office/drawing/2014/main" id="{C2F25C3B-CE3E-836C-13FA-6FC508C8FC3C}"/>
              </a:ext>
            </a:extLst>
          </p:cNvPr>
          <p:cNvSpPr txBox="1"/>
          <p:nvPr/>
        </p:nvSpPr>
        <p:spPr>
          <a:xfrm>
            <a:off x="499640" y="2486473"/>
            <a:ext cx="11192719" cy="279595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Modern surveillance systems generate large volumes of video data that are difficult to monitor continuously across multiple locations. Traditional CCTV relies on human observation, which is time-consuming and likely to make errors due to tiredness and lack of focus. This can lead to missed or delayed detection of suspicious activities, unauthorized access, and other security threats, reducing overall safety and efficiency.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6179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C791-1DC6-521C-4BAB-E466E9F6850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 :</a:t>
            </a:r>
          </a:p>
        </p:txBody>
      </p:sp>
      <p:sp>
        <p:nvSpPr>
          <p:cNvPr id="5" name="TextBox 4">
            <a:extLst>
              <a:ext uri="{FF2B5EF4-FFF2-40B4-BE49-F238E27FC236}">
                <a16:creationId xmlns:a16="http://schemas.microsoft.com/office/drawing/2014/main" id="{56A1AA92-7C0A-2A6D-CE4F-DC82CE037533}"/>
              </a:ext>
            </a:extLst>
          </p:cNvPr>
          <p:cNvSpPr txBox="1"/>
          <p:nvPr/>
        </p:nvSpPr>
        <p:spPr>
          <a:xfrm>
            <a:off x="462987" y="2395959"/>
            <a:ext cx="11366339" cy="1687963"/>
          </a:xfrm>
          <a:prstGeom prst="rect">
            <a:avLst/>
          </a:prstGeom>
          <a:noFill/>
        </p:spPr>
        <p:txBody>
          <a:bodyPr wrap="square">
            <a:spAutoFit/>
          </a:bodyPr>
          <a:lstStyle/>
          <a:p>
            <a:pPr marL="342900" indent="-342900" algn="just">
              <a:lnSpc>
                <a:spcPct val="150000"/>
              </a:lnSpc>
              <a:buAutoNum type="arabicPeriod"/>
            </a:pPr>
            <a:r>
              <a:rPr lang="en-US" sz="2400" b="1" dirty="0">
                <a:latin typeface="Times New Roman" panose="02020603050405020304" pitchFamily="18" charset="0"/>
                <a:cs typeface="Times New Roman" panose="02020603050405020304" pitchFamily="18" charset="0"/>
              </a:rPr>
              <a:t>Develop an AI-Based Surveillance System</a:t>
            </a:r>
          </a:p>
          <a:p>
            <a:pPr algn="just">
              <a:lnSpc>
                <a:spcPct val="150000"/>
              </a:lnSpc>
            </a:pPr>
            <a:r>
              <a:rPr lang="en-US" sz="2400" dirty="0">
                <a:latin typeface="Times New Roman" panose="02020603050405020304" pitchFamily="18" charset="0"/>
                <a:cs typeface="Times New Roman" panose="02020603050405020304" pitchFamily="18" charset="0"/>
              </a:rPr>
              <a:t>To create an intelligent system that can automatically monitor live events in real time    using AI. This reduces manual effort and enables continuous real-time surveillance.</a:t>
            </a:r>
          </a:p>
        </p:txBody>
      </p:sp>
      <p:sp>
        <p:nvSpPr>
          <p:cNvPr id="7" name="TextBox 6">
            <a:extLst>
              <a:ext uri="{FF2B5EF4-FFF2-40B4-BE49-F238E27FC236}">
                <a16:creationId xmlns:a16="http://schemas.microsoft.com/office/drawing/2014/main" id="{AE4EBF51-DBA7-210D-E51E-DD16EAE90BF0}"/>
              </a:ext>
            </a:extLst>
          </p:cNvPr>
          <p:cNvSpPr txBox="1"/>
          <p:nvPr/>
        </p:nvSpPr>
        <p:spPr>
          <a:xfrm>
            <a:off x="462987" y="4382737"/>
            <a:ext cx="11366339" cy="1687963"/>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Implement Object Detection and Tracking</a:t>
            </a:r>
          </a:p>
          <a:p>
            <a:pPr algn="just">
              <a:lnSpc>
                <a:spcPct val="150000"/>
              </a:lnSpc>
            </a:pPr>
            <a:r>
              <a:rPr lang="en-US" sz="2400" dirty="0">
                <a:latin typeface="Times New Roman" panose="02020603050405020304" pitchFamily="18" charset="0"/>
                <a:cs typeface="Times New Roman" panose="02020603050405020304" pitchFamily="18" charset="0"/>
              </a:rPr>
              <a:t>To detect and track people, vehicles, and objects across video </a:t>
            </a:r>
            <a:r>
              <a:rPr lang="en-US" sz="2400" dirty="0" err="1">
                <a:latin typeface="Times New Roman" panose="02020603050405020304" pitchFamily="18" charset="0"/>
                <a:cs typeface="Times New Roman" panose="02020603050405020304" pitchFamily="18" charset="0"/>
              </a:rPr>
              <a:t>frames.This</a:t>
            </a:r>
            <a:r>
              <a:rPr lang="en-US" sz="2400" dirty="0">
                <a:latin typeface="Times New Roman" panose="02020603050405020304" pitchFamily="18" charset="0"/>
                <a:cs typeface="Times New Roman" panose="02020603050405020304" pitchFamily="18" charset="0"/>
              </a:rPr>
              <a:t> ensures accurate monitoring of movements and activities.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95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1143E-9DEF-A805-2699-A724FDA6800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 :</a:t>
            </a:r>
          </a:p>
        </p:txBody>
      </p:sp>
      <p:sp>
        <p:nvSpPr>
          <p:cNvPr id="3" name="TextBox 2">
            <a:extLst>
              <a:ext uri="{FF2B5EF4-FFF2-40B4-BE49-F238E27FC236}">
                <a16:creationId xmlns:a16="http://schemas.microsoft.com/office/drawing/2014/main" id="{9536D5B8-F152-DA2C-72BF-EB3CF7C9BD26}"/>
              </a:ext>
            </a:extLst>
          </p:cNvPr>
          <p:cNvSpPr txBox="1"/>
          <p:nvPr/>
        </p:nvSpPr>
        <p:spPr>
          <a:xfrm>
            <a:off x="462987" y="2453833"/>
            <a:ext cx="11134846" cy="1687963"/>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Detect Suspicious Activities and Behavior</a:t>
            </a:r>
          </a:p>
          <a:p>
            <a:pPr algn="just">
              <a:lnSpc>
                <a:spcPct val="150000"/>
              </a:lnSpc>
            </a:pPr>
            <a:r>
              <a:rPr lang="en-US" sz="2400" dirty="0">
                <a:latin typeface="Times New Roman" panose="02020603050405020304" pitchFamily="18" charset="0"/>
                <a:cs typeface="Times New Roman" panose="02020603050405020304" pitchFamily="18" charset="0"/>
              </a:rPr>
              <a:t>To analyze patterns and identify unusual or harmful activities like theft or wandering, trespassing, </a:t>
            </a:r>
            <a:r>
              <a:rPr lang="en-US" sz="2400" dirty="0" err="1">
                <a:latin typeface="Times New Roman" panose="02020603050405020304" pitchFamily="18" charset="0"/>
                <a:cs typeface="Times New Roman" panose="02020603050405020304" pitchFamily="18" charset="0"/>
              </a:rPr>
              <a:t>etc.This</a:t>
            </a:r>
            <a:r>
              <a:rPr lang="en-US" sz="2400" dirty="0">
                <a:latin typeface="Times New Roman" panose="02020603050405020304" pitchFamily="18" charset="0"/>
                <a:cs typeface="Times New Roman" panose="02020603050405020304" pitchFamily="18" charset="0"/>
              </a:rPr>
              <a:t> helps in early detection of potential security threats.</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B8C5E91-FA7C-6C13-2592-C3CD1696D4E5}"/>
              </a:ext>
            </a:extLst>
          </p:cNvPr>
          <p:cNvSpPr txBox="1"/>
          <p:nvPr/>
        </p:nvSpPr>
        <p:spPr>
          <a:xfrm>
            <a:off x="462987" y="4526361"/>
            <a:ext cx="11134846" cy="1687963"/>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4. Generate Real-Time Alerts for Quick Response</a:t>
            </a:r>
          </a:p>
          <a:p>
            <a:pPr algn="just">
              <a:lnSpc>
                <a:spcPct val="150000"/>
              </a:lnSpc>
            </a:pPr>
            <a:r>
              <a:rPr lang="en-US" sz="2400" dirty="0">
                <a:latin typeface="Times New Roman" panose="02020603050405020304" pitchFamily="18" charset="0"/>
                <a:cs typeface="Times New Roman" panose="02020603050405020304" pitchFamily="18" charset="0"/>
              </a:rPr>
              <a:t>To send instant alerts with useful information when suspicious activity is </a:t>
            </a:r>
            <a:r>
              <a:rPr lang="en-US" sz="2400" dirty="0" err="1">
                <a:latin typeface="Times New Roman" panose="02020603050405020304" pitchFamily="18" charset="0"/>
                <a:cs typeface="Times New Roman" panose="02020603050405020304" pitchFamily="18" charset="0"/>
              </a:rPr>
              <a:t>detected.This</a:t>
            </a:r>
            <a:r>
              <a:rPr lang="en-US" sz="2400" dirty="0">
                <a:latin typeface="Times New Roman" panose="02020603050405020304" pitchFamily="18" charset="0"/>
                <a:cs typeface="Times New Roman" panose="02020603050405020304" pitchFamily="18" charset="0"/>
              </a:rPr>
              <a:t> allows security personnel to respond quickly and effectively.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2110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8199-9E74-2EF0-D273-8B64FC8AD73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REQUIREMENTS :</a:t>
            </a:r>
          </a:p>
        </p:txBody>
      </p:sp>
      <p:sp>
        <p:nvSpPr>
          <p:cNvPr id="4" name="TextBox 3">
            <a:extLst>
              <a:ext uri="{FF2B5EF4-FFF2-40B4-BE49-F238E27FC236}">
                <a16:creationId xmlns:a16="http://schemas.microsoft.com/office/drawing/2014/main" id="{11CE8617-92FA-8D6C-E47D-940B5104A44B}"/>
              </a:ext>
            </a:extLst>
          </p:cNvPr>
          <p:cNvSpPr txBox="1"/>
          <p:nvPr/>
        </p:nvSpPr>
        <p:spPr>
          <a:xfrm>
            <a:off x="1152144" y="2476007"/>
            <a:ext cx="3905638" cy="3412729"/>
          </a:xfrm>
          <a:prstGeom prst="rect">
            <a:avLst/>
          </a:prstGeom>
          <a:noFill/>
        </p:spPr>
        <p:txBody>
          <a:bodyPr wrap="square">
            <a:spAutoFit/>
          </a:bodyPr>
          <a:lstStyle/>
          <a:p>
            <a:pPr algn="just">
              <a:lnSpc>
                <a:spcPct val="150000"/>
              </a:lnSpc>
              <a:buNone/>
            </a:pPr>
            <a:r>
              <a:rPr lang="en-IN" sz="2000" b="1" u="sng"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Programming Language</a:t>
            </a:r>
          </a:p>
          <a:p>
            <a:pPr marL="742950" lvl="1"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Python </a:t>
            </a:r>
          </a:p>
          <a:p>
            <a:pPr marL="285750" indent="-28575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Computer Vision Library</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OpenCV </a:t>
            </a:r>
          </a:p>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Operating System</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Windows </a:t>
            </a:r>
          </a:p>
          <a:p>
            <a:pPr lvl="1"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746C2AD-811D-E150-721D-3B8D2E8754A3}"/>
              </a:ext>
            </a:extLst>
          </p:cNvPr>
          <p:cNvSpPr txBox="1"/>
          <p:nvPr/>
        </p:nvSpPr>
        <p:spPr>
          <a:xfrm>
            <a:off x="6801705" y="2892563"/>
            <a:ext cx="6097554" cy="295106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Development Environment</a:t>
            </a:r>
          </a:p>
          <a:p>
            <a:pPr marL="742950" lvl="1"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 Studio Code  </a:t>
            </a:r>
          </a:p>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Alert &amp; Notification System</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SMTP (Email Alerts)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Twilio – Used for sending SMS notifications </a:t>
            </a:r>
          </a:p>
          <a:p>
            <a:pPr marL="285750" indent="-28575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Machine Learning Frameworks</a:t>
            </a:r>
          </a:p>
          <a:p>
            <a:pPr marL="742950" lvl="1"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TensorFlow </a:t>
            </a:r>
          </a:p>
        </p:txBody>
      </p:sp>
    </p:spTree>
    <p:extLst>
      <p:ext uri="{BB962C8B-B14F-4D97-AF65-F5344CB8AC3E}">
        <p14:creationId xmlns:p14="http://schemas.microsoft.com/office/powerpoint/2010/main" val="1663127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B5E1EC-04F7-C57E-6979-F4A5429A369B}"/>
              </a:ext>
            </a:extLst>
          </p:cNvPr>
          <p:cNvSpPr txBox="1"/>
          <p:nvPr/>
        </p:nvSpPr>
        <p:spPr>
          <a:xfrm>
            <a:off x="474563" y="1514886"/>
            <a:ext cx="5521124" cy="3828227"/>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IN" sz="2000" b="1" u="sng" dirty="0">
                <a:latin typeface="Times New Roman" panose="02020603050405020304" pitchFamily="18" charset="0"/>
                <a:cs typeface="Times New Roman" panose="02020603050405020304" pitchFamily="18" charset="0"/>
              </a:rPr>
              <a:t>Algorithms Used:                                                          </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YOLO (You only Look Once)</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CNN (Convolutional Neural Network)</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Optical Flow (motion-estimation algorithm)</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Pose Estimator </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Autoencoder (Anomaly Detection)</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Isolation Forest</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Event-driven Algorithm</a:t>
            </a:r>
          </a:p>
          <a:p>
            <a:pPr lvl="1">
              <a:lnSpc>
                <a:spcPct val="150000"/>
              </a:lnSpc>
            </a:pP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F1AEEB3-C4E7-76B8-9A94-34DB2D0654E7}"/>
              </a:ext>
            </a:extLst>
          </p:cNvPr>
          <p:cNvSpPr txBox="1"/>
          <p:nvPr/>
        </p:nvSpPr>
        <p:spPr>
          <a:xfrm>
            <a:off x="6759615" y="1514886"/>
            <a:ext cx="4722471" cy="1661993"/>
          </a:xfrm>
          <a:prstGeom prst="rect">
            <a:avLst/>
          </a:prstGeom>
          <a:noFill/>
        </p:spPr>
        <p:txBody>
          <a:bodyPr wrap="square" rtlCol="0">
            <a:spAutoFit/>
          </a:bodyPr>
          <a:lstStyle/>
          <a:p>
            <a:pPr>
              <a:lnSpc>
                <a:spcPct val="150000"/>
              </a:lnSpc>
            </a:pPr>
            <a:r>
              <a:rPr lang="en-IN" sz="2000" b="1" u="sng" dirty="0">
                <a:latin typeface="Times New Roman" panose="02020603050405020304" pitchFamily="18" charset="0"/>
                <a:cs typeface="Times New Roman" panose="02020603050405020304" pitchFamily="18" charset="0"/>
              </a:rPr>
              <a:t>Hardware Requirements: </a:t>
            </a:r>
            <a:endParaRPr lang="en-IN" sz="2000" u="sng"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Webcam or CCTV Camera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Computer System (CPU/GPU)</a:t>
            </a:r>
          </a:p>
          <a:p>
            <a:endParaRPr lang="en-IN" dirty="0"/>
          </a:p>
        </p:txBody>
      </p:sp>
    </p:spTree>
    <p:extLst>
      <p:ext uri="{BB962C8B-B14F-4D97-AF65-F5344CB8AC3E}">
        <p14:creationId xmlns:p14="http://schemas.microsoft.com/office/powerpoint/2010/main" val="3273716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0E3FB-67B6-95CB-1358-978EC880114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METHODOLOGY :</a:t>
            </a:r>
          </a:p>
        </p:txBody>
      </p:sp>
      <p:sp>
        <p:nvSpPr>
          <p:cNvPr id="4" name="TextBox 3">
            <a:extLst>
              <a:ext uri="{FF2B5EF4-FFF2-40B4-BE49-F238E27FC236}">
                <a16:creationId xmlns:a16="http://schemas.microsoft.com/office/drawing/2014/main" id="{AD65F2AE-51BE-B6FF-CA68-BDB35352B46A}"/>
              </a:ext>
            </a:extLst>
          </p:cNvPr>
          <p:cNvSpPr txBox="1"/>
          <p:nvPr/>
        </p:nvSpPr>
        <p:spPr>
          <a:xfrm>
            <a:off x="291297" y="2323061"/>
            <a:ext cx="11285316" cy="33499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400" dirty="0"/>
              <a:t> </a:t>
            </a:r>
            <a:r>
              <a:rPr lang="en-IN" sz="2400" b="1" dirty="0">
                <a:latin typeface="Times New Roman" panose="02020603050405020304" pitchFamily="18" charset="0"/>
                <a:cs typeface="Times New Roman" panose="02020603050405020304" pitchFamily="18" charset="0"/>
              </a:rPr>
              <a:t>Video Input Acquisition</a:t>
            </a:r>
          </a:p>
          <a:p>
            <a:pPr algn="just">
              <a:lnSpc>
                <a:spcPct val="150000"/>
              </a:lnSpc>
            </a:pPr>
            <a:r>
              <a:rPr lang="en-IN" sz="2400" dirty="0">
                <a:latin typeface="Times New Roman" panose="02020603050405020304" pitchFamily="18" charset="0"/>
                <a:cs typeface="Times New Roman" panose="02020603050405020304" pitchFamily="18" charset="0"/>
              </a:rPr>
              <a:t>The system collects video data from CCTV cameras, webcams, or stored datasets. This                   video acts as the main source for further analysis.</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A0F86E-D425-A7E0-A3DA-D7B7167BF6CC}"/>
              </a:ext>
            </a:extLst>
          </p:cNvPr>
          <p:cNvSpPr txBox="1"/>
          <p:nvPr/>
        </p:nvSpPr>
        <p:spPr>
          <a:xfrm>
            <a:off x="291297" y="3750948"/>
            <a:ext cx="11503306" cy="2241960"/>
          </a:xfrm>
          <a:prstGeom prst="rect">
            <a:avLst/>
          </a:prstGeom>
          <a:noFill/>
        </p:spPr>
        <p:txBody>
          <a:bodyPr wrap="square">
            <a:spAutoFit/>
          </a:bodyPr>
          <a:lstStyle/>
          <a:p>
            <a:pPr algn="just">
              <a:lnSpc>
                <a:spcPct val="150000"/>
              </a:lnSpc>
            </a:pPr>
            <a:endParaRPr lang="en-IN"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Frame Extraction and Preprocessing</a:t>
            </a:r>
          </a:p>
          <a:p>
            <a:pPr algn="just">
              <a:lnSpc>
                <a:spcPct val="150000"/>
              </a:lnSpc>
            </a:pPr>
            <a:r>
              <a:rPr lang="en-IN" sz="2400" dirty="0">
                <a:latin typeface="Times New Roman" panose="02020603050405020304" pitchFamily="18" charset="0"/>
                <a:cs typeface="Times New Roman" panose="02020603050405020304" pitchFamily="18" charset="0"/>
              </a:rPr>
              <a:t>The video is split into individual frames for detailed processing .Techniques like resizing and noise reduction improve image quality and consistency.</a:t>
            </a:r>
          </a:p>
        </p:txBody>
      </p:sp>
    </p:spTree>
    <p:extLst>
      <p:ext uri="{BB962C8B-B14F-4D97-AF65-F5344CB8AC3E}">
        <p14:creationId xmlns:p14="http://schemas.microsoft.com/office/powerpoint/2010/main" val="275392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DC417-5D36-AF20-E6E9-5461E070A7A3}"/>
              </a:ext>
            </a:extLst>
          </p:cNvPr>
          <p:cNvSpPr>
            <a:spLocks noGrp="1"/>
          </p:cNvSpPr>
          <p:nvPr>
            <p:ph type="title"/>
          </p:nvPr>
        </p:nvSpPr>
        <p:spPr/>
        <p:txBody>
          <a:bodyPr/>
          <a:lstStyle/>
          <a:p>
            <a:endParaRPr lang="en-IN" dirty="0"/>
          </a:p>
        </p:txBody>
      </p:sp>
      <p:sp>
        <p:nvSpPr>
          <p:cNvPr id="4" name="Text Placeholder 3">
            <a:extLst>
              <a:ext uri="{FF2B5EF4-FFF2-40B4-BE49-F238E27FC236}">
                <a16:creationId xmlns:a16="http://schemas.microsoft.com/office/drawing/2014/main" id="{C57D1AEE-C005-F735-8F2A-5DFD098E85C6}"/>
              </a:ext>
            </a:extLst>
          </p:cNvPr>
          <p:cNvSpPr>
            <a:spLocks noGrp="1"/>
          </p:cNvSpPr>
          <p:nvPr>
            <p:ph type="body" sz="half" idx="2"/>
          </p:nvPr>
        </p:nvSpPr>
        <p:spPr/>
        <p:txBody>
          <a:bodyPr/>
          <a:lstStyle/>
          <a:p>
            <a:endParaRPr lang="en-IN"/>
          </a:p>
        </p:txBody>
      </p:sp>
      <p:pic>
        <p:nvPicPr>
          <p:cNvPr id="5" name="Picture 4">
            <a:extLst>
              <a:ext uri="{FF2B5EF4-FFF2-40B4-BE49-F238E27FC236}">
                <a16:creationId xmlns:a16="http://schemas.microsoft.com/office/drawing/2014/main" id="{AD664193-FAE8-D69F-B623-EBEF1BFE6F99}"/>
              </a:ext>
            </a:extLst>
          </p:cNvPr>
          <p:cNvPicPr>
            <a:picLocks noChangeAspect="1"/>
          </p:cNvPicPr>
          <p:nvPr/>
        </p:nvPicPr>
        <p:blipFill>
          <a:blip r:embed="rId2"/>
          <a:stretch>
            <a:fillRect/>
          </a:stretch>
        </p:blipFill>
        <p:spPr>
          <a:xfrm>
            <a:off x="590309" y="648181"/>
            <a:ext cx="3981691" cy="5597201"/>
          </a:xfrm>
          <a:prstGeom prst="rect">
            <a:avLst/>
          </a:prstGeom>
        </p:spPr>
      </p:pic>
      <p:sp>
        <p:nvSpPr>
          <p:cNvPr id="11" name="TextBox 10">
            <a:extLst>
              <a:ext uri="{FF2B5EF4-FFF2-40B4-BE49-F238E27FC236}">
                <a16:creationId xmlns:a16="http://schemas.microsoft.com/office/drawing/2014/main" id="{35B3A331-1EC4-ACA2-F22F-81F28DD1998A}"/>
              </a:ext>
            </a:extLst>
          </p:cNvPr>
          <p:cNvSpPr txBox="1"/>
          <p:nvPr/>
        </p:nvSpPr>
        <p:spPr>
          <a:xfrm>
            <a:off x="5049456" y="1049229"/>
            <a:ext cx="6094070" cy="224196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Object Detection</a:t>
            </a:r>
          </a:p>
          <a:p>
            <a:pPr algn="just">
              <a:lnSpc>
                <a:spcPct val="150000"/>
              </a:lnSpc>
            </a:pPr>
            <a:r>
              <a:rPr lang="en-IN" sz="2400" dirty="0">
                <a:latin typeface="Times New Roman" panose="02020603050405020304" pitchFamily="18" charset="0"/>
                <a:cs typeface="Times New Roman" panose="02020603050405020304" pitchFamily="18" charset="0"/>
              </a:rPr>
              <a:t>Each frame is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to detect objects such as people, vehicles, and </a:t>
            </a:r>
            <a:r>
              <a:rPr lang="en-IN" sz="2400" dirty="0" err="1">
                <a:latin typeface="Times New Roman" panose="02020603050405020304" pitchFamily="18" charset="0"/>
                <a:cs typeface="Times New Roman" panose="02020603050405020304" pitchFamily="18" charset="0"/>
              </a:rPr>
              <a:t>bags.This</a:t>
            </a:r>
            <a:r>
              <a:rPr lang="en-IN" sz="2400" dirty="0">
                <a:latin typeface="Times New Roman" panose="02020603050405020304" pitchFamily="18" charset="0"/>
                <a:cs typeface="Times New Roman" panose="02020603050405020304" pitchFamily="18" charset="0"/>
              </a:rPr>
              <a:t> helps the system focus only on important elements in the scene.</a:t>
            </a:r>
          </a:p>
        </p:txBody>
      </p:sp>
      <p:sp>
        <p:nvSpPr>
          <p:cNvPr id="13" name="TextBox 12">
            <a:extLst>
              <a:ext uri="{FF2B5EF4-FFF2-40B4-BE49-F238E27FC236}">
                <a16:creationId xmlns:a16="http://schemas.microsoft.com/office/drawing/2014/main" id="{E57949F8-F6FD-1E31-156C-A48192C77EF0}"/>
              </a:ext>
            </a:extLst>
          </p:cNvPr>
          <p:cNvSpPr txBox="1"/>
          <p:nvPr/>
        </p:nvSpPr>
        <p:spPr>
          <a:xfrm>
            <a:off x="5049456" y="3449424"/>
            <a:ext cx="6094070" cy="279595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Feature Extraction and </a:t>
            </a:r>
            <a:r>
              <a:rPr lang="en-IN" sz="2400" b="1" dirty="0" err="1">
                <a:latin typeface="Times New Roman" panose="02020603050405020304" pitchFamily="18" charset="0"/>
                <a:cs typeface="Times New Roman" panose="02020603050405020304" pitchFamily="18" charset="0"/>
              </a:rPr>
              <a:t>Behavior</a:t>
            </a:r>
            <a:r>
              <a:rPr lang="en-IN" sz="2400" b="1" dirty="0">
                <a:latin typeface="Times New Roman" panose="02020603050405020304" pitchFamily="18" charset="0"/>
                <a:cs typeface="Times New Roman" panose="02020603050405020304" pitchFamily="18" charset="0"/>
              </a:rPr>
              <a:t> Analysis</a:t>
            </a:r>
          </a:p>
          <a:p>
            <a:pPr algn="just">
              <a:lnSpc>
                <a:spcPct val="150000"/>
              </a:lnSpc>
            </a:pPr>
            <a:r>
              <a:rPr lang="en-IN" sz="2400" dirty="0">
                <a:latin typeface="Times New Roman" panose="02020603050405020304" pitchFamily="18" charset="0"/>
                <a:cs typeface="Times New Roman" panose="02020603050405020304" pitchFamily="18" charset="0"/>
              </a:rPr>
              <a:t>Key features like movement, speed, and direction are extracted from </a:t>
            </a:r>
            <a:r>
              <a:rPr lang="en-IN" sz="2400" dirty="0" err="1">
                <a:latin typeface="Times New Roman" panose="02020603050405020304" pitchFamily="18" charset="0"/>
                <a:cs typeface="Times New Roman" panose="02020603050405020304" pitchFamily="18" charset="0"/>
              </a:rPr>
              <a:t>objects.These</a:t>
            </a:r>
            <a:r>
              <a:rPr lang="en-IN" sz="2400" dirty="0">
                <a:latin typeface="Times New Roman" panose="02020603050405020304" pitchFamily="18" charset="0"/>
                <a:cs typeface="Times New Roman" panose="02020603050405020304" pitchFamily="18" charset="0"/>
              </a:rPr>
              <a:t> features help in understanding normal activity patterns.</a:t>
            </a:r>
          </a:p>
        </p:txBody>
      </p:sp>
    </p:spTree>
    <p:extLst>
      <p:ext uri="{BB962C8B-B14F-4D97-AF65-F5344CB8AC3E}">
        <p14:creationId xmlns:p14="http://schemas.microsoft.com/office/powerpoint/2010/main" val="830678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85013A-720A-DF38-5208-E70AA4816621}"/>
              </a:ext>
            </a:extLst>
          </p:cNvPr>
          <p:cNvSpPr txBox="1"/>
          <p:nvPr/>
        </p:nvSpPr>
        <p:spPr>
          <a:xfrm>
            <a:off x="512179" y="1153401"/>
            <a:ext cx="11189825" cy="16879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Anomaly Detection</a:t>
            </a:r>
          </a:p>
          <a:p>
            <a:pPr>
              <a:lnSpc>
                <a:spcPct val="150000"/>
              </a:lnSpc>
            </a:pPr>
            <a:r>
              <a:rPr lang="en-IN" sz="2400" dirty="0">
                <a:latin typeface="Times New Roman" panose="02020603050405020304" pitchFamily="18" charset="0"/>
                <a:cs typeface="Times New Roman" panose="02020603050405020304" pitchFamily="18" charset="0"/>
              </a:rPr>
              <a:t>The system identifies unusual activities by comparing with learned normal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a:t>
            </a:r>
          </a:p>
          <a:p>
            <a:pPr>
              <a:lnSpc>
                <a:spcPct val="150000"/>
              </a:lnSpc>
            </a:pPr>
            <a:r>
              <a:rPr lang="en-IN" sz="2400" dirty="0">
                <a:latin typeface="Times New Roman" panose="02020603050405020304" pitchFamily="18" charset="0"/>
                <a:cs typeface="Times New Roman" panose="02020603050405020304" pitchFamily="18" charset="0"/>
              </a:rPr>
              <a:t>Any abnormal pattern is marked as suspicious.</a:t>
            </a:r>
          </a:p>
        </p:txBody>
      </p:sp>
      <p:sp>
        <p:nvSpPr>
          <p:cNvPr id="7" name="TextBox 6">
            <a:extLst>
              <a:ext uri="{FF2B5EF4-FFF2-40B4-BE49-F238E27FC236}">
                <a16:creationId xmlns:a16="http://schemas.microsoft.com/office/drawing/2014/main" id="{73E08D5E-0435-8383-096C-153FD7B023A7}"/>
              </a:ext>
            </a:extLst>
          </p:cNvPr>
          <p:cNvSpPr txBox="1"/>
          <p:nvPr/>
        </p:nvSpPr>
        <p:spPr>
          <a:xfrm>
            <a:off x="512179" y="3429000"/>
            <a:ext cx="10460621" cy="16879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Alert Generation System</a:t>
            </a:r>
          </a:p>
          <a:p>
            <a:pPr algn="just">
              <a:lnSpc>
                <a:spcPct val="150000"/>
              </a:lnSpc>
            </a:pPr>
            <a:r>
              <a:rPr lang="en-IN" sz="2400" dirty="0">
                <a:latin typeface="Times New Roman" panose="02020603050405020304" pitchFamily="18" charset="0"/>
                <a:cs typeface="Times New Roman" panose="02020603050405020304" pitchFamily="18" charset="0"/>
              </a:rPr>
              <a:t>When suspicious activity is detected, alerts are generated </a:t>
            </a:r>
            <a:r>
              <a:rPr lang="en-IN" sz="2400" dirty="0" err="1">
                <a:latin typeface="Times New Roman" panose="02020603050405020304" pitchFamily="18" charset="0"/>
                <a:cs typeface="Times New Roman" panose="02020603050405020304" pitchFamily="18" charset="0"/>
              </a:rPr>
              <a:t>instantly.Notifications</a:t>
            </a:r>
            <a:r>
              <a:rPr lang="en-IN" sz="2400" dirty="0">
                <a:latin typeface="Times New Roman" panose="02020603050405020304" pitchFamily="18" charset="0"/>
                <a:cs typeface="Times New Roman" panose="02020603050405020304" pitchFamily="18" charset="0"/>
              </a:rPr>
              <a:t> or alarms are sent to security personnel for quick action.</a:t>
            </a:r>
          </a:p>
        </p:txBody>
      </p:sp>
    </p:spTree>
    <p:extLst>
      <p:ext uri="{BB962C8B-B14F-4D97-AF65-F5344CB8AC3E}">
        <p14:creationId xmlns:p14="http://schemas.microsoft.com/office/powerpoint/2010/main" val="1439017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107F9-97D7-6AE5-DF75-8F51F437C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70C11-7DA4-B4AA-E9DC-A6DF3C72163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REFRENCES :</a:t>
            </a:r>
          </a:p>
        </p:txBody>
      </p:sp>
      <p:sp>
        <p:nvSpPr>
          <p:cNvPr id="4" name="TextBox 3">
            <a:extLst>
              <a:ext uri="{FF2B5EF4-FFF2-40B4-BE49-F238E27FC236}">
                <a16:creationId xmlns:a16="http://schemas.microsoft.com/office/drawing/2014/main" id="{DD6F03E1-118A-82FE-EFEF-F657A108EC86}"/>
              </a:ext>
            </a:extLst>
          </p:cNvPr>
          <p:cNvSpPr txBox="1"/>
          <p:nvPr/>
        </p:nvSpPr>
        <p:spPr>
          <a:xfrm>
            <a:off x="291297" y="2323061"/>
            <a:ext cx="11790456" cy="3913059"/>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400" dirty="0" err="1">
                <a:latin typeface="Time new roman"/>
              </a:rPr>
              <a:t>Gurramkonda</a:t>
            </a:r>
            <a:r>
              <a:rPr lang="en-US" sz="2400" dirty="0">
                <a:latin typeface="Time new roman"/>
              </a:rPr>
              <a:t> Kavya and G. </a:t>
            </a:r>
            <a:r>
              <a:rPr lang="en-US" sz="2400" dirty="0" err="1">
                <a:latin typeface="Time new roman"/>
              </a:rPr>
              <a:t>Umamaheswar</a:t>
            </a:r>
            <a:r>
              <a:rPr lang="en-US" sz="2400" dirty="0">
                <a:latin typeface="Time new roman"/>
              </a:rPr>
              <a:t> Reddy, “Suspicious Activity Recognition Using YOLO Algorithm,” Journal of Emerging Technologies and Innovative Research (JETIR), 2023.</a:t>
            </a:r>
          </a:p>
          <a:p>
            <a:pPr marL="457200" indent="-457200" algn="just">
              <a:lnSpc>
                <a:spcPct val="150000"/>
              </a:lnSpc>
              <a:buFont typeface="Arial" panose="020B0604020202020204" pitchFamily="34" charset="0"/>
              <a:buChar char="•"/>
            </a:pPr>
            <a:r>
              <a:rPr lang="en-US" sz="2400" dirty="0">
                <a:latin typeface="Time new roman"/>
              </a:rPr>
              <a:t>J. Tandel, S. Darak, K. Desai, M. Desai, and M. Kothari, “Human Anomaly Detection System Using YOLOv8 and LSTM,” International Journal for Research in Applied Science &amp; Engineering Technology (IJRASET), 2024.</a:t>
            </a:r>
          </a:p>
          <a:p>
            <a:pPr marL="457200" indent="-457200" algn="just">
              <a:lnSpc>
                <a:spcPct val="150000"/>
              </a:lnSpc>
              <a:buFont typeface="Arial" panose="020B0604020202020204" pitchFamily="34" charset="0"/>
              <a:buChar char="•"/>
            </a:pPr>
            <a:r>
              <a:rPr lang="en-US" sz="2400" dirty="0">
                <a:latin typeface="Time new roman"/>
              </a:rPr>
              <a:t>Jash Tandel, Siddhesh Darak, Khagesh Desai, Meet Desai, and Mayank Kothari, “Human Anomaly Detection System Using YOLOv8 and LSTM,” IJRASET, 2024.</a:t>
            </a:r>
            <a:endParaRPr lang="en-IN" sz="2400" dirty="0">
              <a:latin typeface="Time new roman"/>
            </a:endParaRPr>
          </a:p>
        </p:txBody>
      </p:sp>
    </p:spTree>
    <p:extLst>
      <p:ext uri="{BB962C8B-B14F-4D97-AF65-F5344CB8AC3E}">
        <p14:creationId xmlns:p14="http://schemas.microsoft.com/office/powerpoint/2010/main" val="3659756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D8D3-FAAA-B232-D953-6EF071F730C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32B818-50DF-E6A1-7C08-3568CBA0B7FB}"/>
              </a:ext>
            </a:extLst>
          </p:cNvPr>
          <p:cNvSpPr txBox="1"/>
          <p:nvPr/>
        </p:nvSpPr>
        <p:spPr>
          <a:xfrm>
            <a:off x="0" y="0"/>
            <a:ext cx="12192000" cy="6129050"/>
          </a:xfrm>
          <a:prstGeom prst="rect">
            <a:avLst/>
          </a:prstGeom>
          <a:noFill/>
        </p:spPr>
        <p:txBody>
          <a:bodyPr wrap="square">
            <a:spAutoFit/>
          </a:bodyPr>
          <a:lstStyle/>
          <a:p>
            <a:pPr marL="457200" indent="-457200" algn="just">
              <a:lnSpc>
                <a:spcPct val="150000"/>
              </a:lnSpc>
              <a:buFont typeface="Arial" panose="020B0604020202020204" pitchFamily="34" charset="0"/>
              <a:buChar char="•"/>
            </a:pPr>
            <a:endParaRPr lang="en-IN" sz="2400" dirty="0">
              <a:latin typeface="Time new roman"/>
            </a:endParaRPr>
          </a:p>
          <a:p>
            <a:pPr marL="457200" indent="-457200" algn="just">
              <a:lnSpc>
                <a:spcPct val="150000"/>
              </a:lnSpc>
              <a:buFont typeface="Arial" panose="020B0604020202020204" pitchFamily="34" charset="0"/>
              <a:buChar char="•"/>
            </a:pPr>
            <a:endParaRPr lang="en-IN" sz="2400" dirty="0">
              <a:latin typeface="Time new roman"/>
            </a:endParaRPr>
          </a:p>
          <a:p>
            <a:pPr marL="457200" indent="-457200" algn="just">
              <a:lnSpc>
                <a:spcPct val="150000"/>
              </a:lnSpc>
              <a:buFont typeface="Arial" panose="020B0604020202020204" pitchFamily="34" charset="0"/>
              <a:buChar char="•"/>
            </a:pPr>
            <a:r>
              <a:rPr lang="en-US" sz="2400" dirty="0">
                <a:latin typeface="Time new roman"/>
              </a:rPr>
              <a:t>R. Nasir, Z. Jalil, M. Nasir, T. </a:t>
            </a:r>
            <a:r>
              <a:rPr lang="en-US" sz="2400" dirty="0" err="1">
                <a:latin typeface="Time new roman"/>
              </a:rPr>
              <a:t>Alsubait</a:t>
            </a:r>
            <a:r>
              <a:rPr lang="en-US" sz="2400" dirty="0">
                <a:latin typeface="Time new roman"/>
              </a:rPr>
              <a:t>, M. Ashraf, and S. Saleem, “An Enhanced Framework for Real-Time Dense Crowd Abnormal Behavior Detection Using YOLOv8,” Artificial Intelligence Review, 2025.</a:t>
            </a:r>
            <a:endParaRPr lang="en-IN" sz="2400" dirty="0">
              <a:latin typeface="Time new roman"/>
            </a:endParaRPr>
          </a:p>
          <a:p>
            <a:pPr marL="457200" indent="-457200" algn="just">
              <a:lnSpc>
                <a:spcPct val="150000"/>
              </a:lnSpc>
              <a:buFont typeface="Arial" panose="020B0604020202020204" pitchFamily="34" charset="0"/>
              <a:buChar char="•"/>
            </a:pPr>
            <a:r>
              <a:rPr lang="en-US" sz="2400" dirty="0">
                <a:latin typeface="Time new roman"/>
              </a:rPr>
              <a:t>P. Siva, G. B. Pujitha, G. Siva Krishna, G. Hemanth, and B. M. S. Teja, “Smart Surveillance Systems Using YOLOv8: A Scalable Approach for Crowd and Threat Detection,” International Journal of Recent Advances in Engineering and Technology, 2025.</a:t>
            </a:r>
          </a:p>
          <a:p>
            <a:pPr marL="457200" indent="-457200" algn="just">
              <a:lnSpc>
                <a:spcPct val="150000"/>
              </a:lnSpc>
              <a:buFont typeface="Arial" panose="020B0604020202020204" pitchFamily="34" charset="0"/>
              <a:buChar char="•"/>
            </a:pPr>
            <a:r>
              <a:rPr lang="en-US" sz="2400" dirty="0">
                <a:latin typeface="Time new roman"/>
              </a:rPr>
              <a:t>A. H. Soomro, R. H. Arain, and R. A. Shaikh, “AI-Driven Cognitive Surveillance Framework for Suspicious Activity Detection in Academia,” Advances in Science and Technology Research Journal, 2025.</a:t>
            </a:r>
            <a:endParaRPr lang="en-IN" sz="2400" dirty="0">
              <a:latin typeface="Time new roman"/>
            </a:endParaRPr>
          </a:p>
        </p:txBody>
      </p:sp>
    </p:spTree>
    <p:extLst>
      <p:ext uri="{BB962C8B-B14F-4D97-AF65-F5344CB8AC3E}">
        <p14:creationId xmlns:p14="http://schemas.microsoft.com/office/powerpoint/2010/main" val="1872687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B4E09-B670-CA86-4AAD-5B05C1DD63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B22DD6-95E5-3A14-4EEF-78ACEA153111}"/>
              </a:ext>
            </a:extLst>
          </p:cNvPr>
          <p:cNvSpPr txBox="1"/>
          <p:nvPr/>
        </p:nvSpPr>
        <p:spPr>
          <a:xfrm>
            <a:off x="0" y="641474"/>
            <a:ext cx="12192000" cy="6129050"/>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400" dirty="0">
                <a:latin typeface="Time new roman"/>
              </a:rPr>
              <a:t>U. Ihsan, N. Z. </a:t>
            </a:r>
            <a:r>
              <a:rPr lang="en-US" sz="2400" dirty="0" err="1">
                <a:latin typeface="Time new roman"/>
              </a:rPr>
              <a:t>Jhanjhi</a:t>
            </a:r>
            <a:r>
              <a:rPr lang="en-US" sz="2400" dirty="0">
                <a:latin typeface="Time new roman"/>
              </a:rPr>
              <a:t>, H. Ashraf, F. Ashfaq, and F. A. </a:t>
            </a:r>
            <a:r>
              <a:rPr lang="en-US" sz="2400" dirty="0" err="1">
                <a:latin typeface="Time new roman"/>
              </a:rPr>
              <a:t>Wicaksana</a:t>
            </a:r>
            <a:r>
              <a:rPr lang="en-US" sz="2400" dirty="0">
                <a:latin typeface="Time new roman"/>
              </a:rPr>
              <a:t>, “A Real-Time Intelligent Surveillance System for Suspicious Behavior and Facial Emotion Analysis Using YOLOv8 and </a:t>
            </a:r>
            <a:r>
              <a:rPr lang="en-US" sz="2400" dirty="0" err="1">
                <a:latin typeface="Time new roman"/>
              </a:rPr>
              <a:t>DeepFace</a:t>
            </a:r>
            <a:r>
              <a:rPr lang="en-US" sz="2400" dirty="0">
                <a:latin typeface="Time new roman"/>
              </a:rPr>
              <a:t>,” Engineering Proceedings, 2025.</a:t>
            </a:r>
            <a:endParaRPr lang="en-IN" sz="2400" dirty="0">
              <a:latin typeface="Time new roman"/>
            </a:endParaRPr>
          </a:p>
          <a:p>
            <a:pPr marL="457200" indent="-457200" algn="just">
              <a:lnSpc>
                <a:spcPct val="150000"/>
              </a:lnSpc>
              <a:buFont typeface="Arial" panose="020B0604020202020204" pitchFamily="34" charset="0"/>
              <a:buChar char="•"/>
            </a:pPr>
            <a:r>
              <a:rPr lang="en-US" sz="2400" dirty="0">
                <a:latin typeface="Time new roman"/>
              </a:rPr>
              <a:t>A. </a:t>
            </a:r>
            <a:r>
              <a:rPr lang="en-US" sz="2400" dirty="0" err="1">
                <a:latin typeface="Time new roman"/>
              </a:rPr>
              <a:t>Eenaja</a:t>
            </a:r>
            <a:r>
              <a:rPr lang="en-US" sz="2400" dirty="0">
                <a:latin typeface="Time new roman"/>
              </a:rPr>
              <a:t>, R. Gunda, K. Ashwini, P. Keerthi, and N. Sravani, “Improving Public Safety Through AI and Machine Learning-Driven CCTV Surveillance Systems,” International Journal of Progressive Research in Engineering Management and Science (IJPREMS), 2025.</a:t>
            </a:r>
          </a:p>
          <a:p>
            <a:pPr marL="457200" indent="-457200" algn="just">
              <a:lnSpc>
                <a:spcPct val="150000"/>
              </a:lnSpc>
              <a:buFont typeface="Arial" panose="020B0604020202020204" pitchFamily="34" charset="0"/>
              <a:buChar char="•"/>
            </a:pPr>
            <a:r>
              <a:rPr lang="en-US" sz="2400" dirty="0">
                <a:latin typeface="Time new roman"/>
              </a:rPr>
              <a:t>A. S. </a:t>
            </a:r>
            <a:r>
              <a:rPr lang="en-US" sz="2400" dirty="0" err="1">
                <a:latin typeface="Time new roman"/>
              </a:rPr>
              <a:t>Munavalli</a:t>
            </a:r>
            <a:r>
              <a:rPr lang="en-US" sz="2400" dirty="0">
                <a:latin typeface="Time new roman"/>
              </a:rPr>
              <a:t>, A. S. </a:t>
            </a:r>
            <a:r>
              <a:rPr lang="en-US" sz="2400" dirty="0" err="1">
                <a:latin typeface="Time new roman"/>
              </a:rPr>
              <a:t>Sheelimath</a:t>
            </a:r>
            <a:r>
              <a:rPr lang="en-US" sz="2400" dirty="0">
                <a:latin typeface="Time new roman"/>
              </a:rPr>
              <a:t>, H. M. </a:t>
            </a:r>
            <a:r>
              <a:rPr lang="en-US" sz="2400" dirty="0" err="1">
                <a:latin typeface="Time new roman"/>
              </a:rPr>
              <a:t>Kalkumkar</a:t>
            </a:r>
            <a:r>
              <a:rPr lang="en-US" sz="2400" dirty="0">
                <a:latin typeface="Time new roman"/>
              </a:rPr>
              <a:t>, K. S. Ashtekar, and A. M. </a:t>
            </a:r>
            <a:r>
              <a:rPr lang="en-US" sz="2400" dirty="0" err="1">
                <a:latin typeface="Time new roman"/>
              </a:rPr>
              <a:t>Hanchinal</a:t>
            </a:r>
            <a:r>
              <a:rPr lang="en-US" sz="2400" dirty="0">
                <a:latin typeface="Time new roman"/>
              </a:rPr>
              <a:t>, “Security and Surveillance: Human and Suspicious Object Detection Using YOLOv8,” International Journal of Creative Research Thoughts (IJCRT), 2025.</a:t>
            </a:r>
          </a:p>
          <a:p>
            <a:pPr marL="457200" indent="-457200" algn="just">
              <a:lnSpc>
                <a:spcPct val="150000"/>
              </a:lnSpc>
              <a:buFont typeface="Arial" panose="020B0604020202020204" pitchFamily="34" charset="0"/>
              <a:buChar char="•"/>
            </a:pPr>
            <a:r>
              <a:rPr lang="en-US" sz="2400" dirty="0">
                <a:latin typeface="Time new roman"/>
              </a:rPr>
              <a:t>V. Monica and N. Saranya, “AI-Based Military Intrusion Detection System Using YOLOv8,” International Journal of Sciences and Innovation Engineering (IJSCI), 2026.</a:t>
            </a:r>
            <a:endParaRPr lang="en-IN" sz="2400" dirty="0">
              <a:latin typeface="Time new roman"/>
            </a:endParaRPr>
          </a:p>
        </p:txBody>
      </p:sp>
    </p:spTree>
    <p:extLst>
      <p:ext uri="{BB962C8B-B14F-4D97-AF65-F5344CB8AC3E}">
        <p14:creationId xmlns:p14="http://schemas.microsoft.com/office/powerpoint/2010/main" val="4019586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3D961-A1B6-8068-7082-F3ABC2D28B8B}"/>
              </a:ext>
            </a:extLst>
          </p:cNvPr>
          <p:cNvSpPr>
            <a:spLocks noGrp="1"/>
          </p:cNvSpPr>
          <p:nvPr>
            <p:ph type="title"/>
          </p:nvPr>
        </p:nvSpPr>
        <p:spPr/>
        <p:txBody>
          <a:bodyPr/>
          <a:lstStyle/>
          <a:p>
            <a:endParaRPr lang="en-IN" dirty="0"/>
          </a:p>
        </p:txBody>
      </p:sp>
      <p:sp>
        <p:nvSpPr>
          <p:cNvPr id="3" name="TextBox 2">
            <a:extLst>
              <a:ext uri="{FF2B5EF4-FFF2-40B4-BE49-F238E27FC236}">
                <a16:creationId xmlns:a16="http://schemas.microsoft.com/office/drawing/2014/main" id="{79852936-1EB5-1B56-ECCD-46E95508FE64}"/>
              </a:ext>
            </a:extLst>
          </p:cNvPr>
          <p:cNvSpPr txBox="1"/>
          <p:nvPr/>
        </p:nvSpPr>
        <p:spPr>
          <a:xfrm>
            <a:off x="1979271" y="3211164"/>
            <a:ext cx="11239018" cy="1569660"/>
          </a:xfrm>
          <a:prstGeom prst="rect">
            <a:avLst/>
          </a:prstGeom>
          <a:noFill/>
        </p:spPr>
        <p:txBody>
          <a:bodyPr wrap="square" rtlCol="0">
            <a:spAutoFit/>
          </a:bodyPr>
          <a:lstStyle/>
          <a:p>
            <a:r>
              <a:rPr lang="en-IN" sz="9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8266000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3642</TotalTime>
  <Words>1571</Words>
  <Application>Microsoft Office PowerPoint</Application>
  <PresentationFormat>Widescreen</PresentationFormat>
  <Paragraphs>172</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Century Gothic</vt:lpstr>
      <vt:lpstr>Time new roman</vt:lpstr>
      <vt:lpstr>Times New Roman</vt:lpstr>
      <vt:lpstr>Wingdings</vt:lpstr>
      <vt:lpstr>Wingdings 3</vt:lpstr>
      <vt:lpstr>Ion Boardroom</vt:lpstr>
      <vt:lpstr>PowerPoint Presentation</vt:lpstr>
      <vt:lpstr>CONTENTS :</vt:lpstr>
      <vt:lpstr>INTRODUCTION :</vt:lpstr>
      <vt:lpstr>LITERATURE SURVEY :</vt:lpstr>
      <vt:lpstr>PowerPoint Presentation</vt:lpstr>
      <vt:lpstr>PowerPoint Presentation</vt:lpstr>
      <vt:lpstr>PROBLEM STATEMENT :</vt:lpstr>
      <vt:lpstr>OBJECTIVES :</vt:lpstr>
      <vt:lpstr>OBJECTIVES :</vt:lpstr>
      <vt:lpstr>SYSTEM REQUIREMENTS :</vt:lpstr>
      <vt:lpstr>PowerPoint Presentation</vt:lpstr>
      <vt:lpstr>METHODOLOGY :</vt:lpstr>
      <vt:lpstr>PowerPoint Presentation</vt:lpstr>
      <vt:lpstr>PowerPoint Presentation</vt:lpstr>
      <vt:lpstr>REFRENCES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Sharan I S</dc:creator>
  <cp:lastModifiedBy>Shiny Marshal</cp:lastModifiedBy>
  <cp:revision>148</cp:revision>
  <dcterms:created xsi:type="dcterms:W3CDTF">2024-11-20T08:47:06Z</dcterms:created>
  <dcterms:modified xsi:type="dcterms:W3CDTF">2026-04-01T02:57:18Z</dcterms:modified>
</cp:coreProperties>
</file>